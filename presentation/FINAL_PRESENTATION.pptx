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Hit@5</c:v>
                </c:pt>
              </c:strCache>
            </c:strRef>
          </c:tx>
          <c:spPr>
            <a:solidFill>
              <a:srgbClr val="12305B"/>
            </a:solidFill>
          </c:spPr>
          <c:cat>
            <c:strRef>
              <c:f>Sheet1!$A$2:$A$5</c:f>
              <c:strCache>
                <c:ptCount val="4"/>
                <c:pt idx="0">
                  <c:v>Dense raw</c:v>
                </c:pt>
                <c:pt idx="1">
                  <c:v>Agent (Phase 2)</c:v>
                </c:pt>
                <c:pt idx="2">
                  <c:v>Hybrid RRF</c:v>
                </c:pt>
                <c:pt idx="3">
                  <c:v>Hybrid + cap 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0.732</c:v>
                </c:pt>
                <c:pt idx="1">
                  <c:v>0.718</c:v>
                </c:pt>
                <c:pt idx="2">
                  <c:v>0.845</c:v>
                </c:pt>
                <c:pt idx="3">
                  <c:v>0.873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MRR@5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Sheet1!$A$2:$A$5</c:f>
              <c:strCache>
                <c:ptCount val="4"/>
                <c:pt idx="0">
                  <c:v>Dense raw</c:v>
                </c:pt>
                <c:pt idx="1">
                  <c:v>Agent (Phase 2)</c:v>
                </c:pt>
                <c:pt idx="2">
                  <c:v>Hybrid RRF</c:v>
                </c:pt>
                <c:pt idx="3">
                  <c:v>Hybrid + cap 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0.575</c:v>
                </c:pt>
                <c:pt idx="1">
                  <c:v>0.591</c:v>
                </c:pt>
                <c:pt idx="2">
                  <c:v>0.668</c:v>
                </c:pt>
                <c:pt idx="3">
                  <c:v>0.675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EF2F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Dense raw</c:v>
                </c:pt>
              </c:strCache>
            </c:strRef>
          </c:tx>
          <c:spPr>
            <a:solidFill>
              <a:srgbClr val="8C99A6"/>
            </a:solidFill>
          </c:spPr>
          <c:cat>
            <c:strRef>
              <c:f>Sheet1!$A$2:$A$6</c:f>
              <c:strCache>
                <c:ptCount val="5"/>
                <c:pt idx="0">
                  <c:v>fr</c:v>
                </c:pt>
                <c:pt idx="1">
                  <c:v>en</c:v>
                </c:pt>
                <c:pt idx="2">
                  <c:v>ar</c:v>
                </c:pt>
                <c:pt idx="3">
                  <c:v>derja</c:v>
                </c:pt>
                <c:pt idx="4">
                  <c:v>derja-latin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</c:v>
                </c:pt>
                <c:pt idx="1">
                  <c:v>1.0</c:v>
                </c:pt>
                <c:pt idx="2">
                  <c:v>0.714</c:v>
                </c:pt>
                <c:pt idx="3">
                  <c:v>0.75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 + cap</c:v>
                </c:pt>
              </c:strCache>
            </c:strRef>
          </c:tx>
          <c:spPr>
            <a:solidFill>
              <a:srgbClr val="12305B"/>
            </a:solidFill>
          </c:spPr>
          <c:cat>
            <c:strRef>
              <c:f>Sheet1!$A$2:$A$6</c:f>
              <c:strCache>
                <c:ptCount val="5"/>
                <c:pt idx="0">
                  <c:v>fr</c:v>
                </c:pt>
                <c:pt idx="1">
                  <c:v>en</c:v>
                </c:pt>
                <c:pt idx="2">
                  <c:v>ar</c:v>
                </c:pt>
                <c:pt idx="3">
                  <c:v>derja</c:v>
                </c:pt>
                <c:pt idx="4">
                  <c:v>derja-latin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0.714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EF2F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B0 both correct</c:v>
                </c:pt>
              </c:strCache>
            </c:strRef>
          </c:tx>
          <c:spPr>
            <a:solidFill>
              <a:srgbClr val="8C99A6"/>
            </a:solidFill>
          </c:spPr>
          <c:cat>
            <c:strRef>
              <c:f>Sheet1!$A$2:$A$5</c:f>
              <c:strCache>
                <c:ptCount val="4"/>
                <c:pt idx="0">
                  <c:v>fr (n=34)</c:v>
                </c:pt>
                <c:pt idx="1">
                  <c:v>en (n=26)</c:v>
                </c:pt>
                <c:pt idx="2">
                  <c:v>ar (n=11)</c:v>
                </c:pt>
                <c:pt idx="3">
                  <c:v>derja (n=13)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0.588</c:v>
                </c:pt>
                <c:pt idx="1">
                  <c:v>0.5</c:v>
                </c:pt>
                <c:pt idx="2">
                  <c:v>0.273</c:v>
                </c:pt>
                <c:pt idx="3">
                  <c:v>0.154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v1 both correct</c:v>
                </c:pt>
              </c:strCache>
            </c:strRef>
          </c:tx>
          <c:spPr>
            <a:solidFill>
              <a:srgbClr val="12305B"/>
            </a:solidFill>
          </c:spPr>
          <c:cat>
            <c:strRef>
              <c:f>Sheet1!$A$2:$A$5</c:f>
              <c:strCache>
                <c:ptCount val="4"/>
                <c:pt idx="0">
                  <c:v>fr (n=34)</c:v>
                </c:pt>
                <c:pt idx="1">
                  <c:v>en (n=26)</c:v>
                </c:pt>
                <c:pt idx="2">
                  <c:v>ar (n=11)</c:v>
                </c:pt>
                <c:pt idx="3">
                  <c:v>derja (n=13)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0.706</c:v>
                </c:pt>
                <c:pt idx="1">
                  <c:v>0.808</c:v>
                </c:pt>
                <c:pt idx="2">
                  <c:v>0.545</c:v>
                </c:pt>
                <c:pt idx="3">
                  <c:v>0.231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EF2F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We are presenting the Tunisian Administrative Procedures Assistant: a local, source-grounded,</a:t>
            </a:r>
          </a:p>
          <a:p>
            <a:r>
              <a:t>multi-agent system that answers questions about Tunisian administrative procedures in French, English, Arabic and</a:t>
            </a:r>
          </a:p>
          <a:p>
            <a:r>
              <a:t>Tunisian Derja. I will introduce the problem and our objectives. My colleagues will then walk you through the</a:t>
            </a:r>
          </a:p>
          <a:p>
            <a:r>
              <a:t>architecture, the prompt engineering, the retrieval, the agents, the multimodal part, a live demonstration, and</a:t>
            </a:r>
          </a:p>
          <a:p>
            <a:r>
              <a:t>our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use case? Consider a citizen who wants to renew a passport or register a small company.</a:t>
            </a:r>
          </a:p>
          <a:p>
            <a:r>
              <a:t>- **The information is fragmented.** The Ministry of the Interior publishes procedure guides in French and in</a:t>
            </a:r>
          </a:p>
          <a:p>
            <a:r>
              <a:t>  Arabic. The National Business Register, the RNE, publishes a table of ninety-five procedures with fees and</a:t>
            </a:r>
          </a:p>
          <a:p>
            <a:r>
              <a:t>  legal deadlines. The laws and decrees behind them are PDF files from the Official Journal.</a:t>
            </a:r>
          </a:p>
          <a:p>
            <a:r>
              <a:t>- **There is a language gap.** The official text is in French or Arabic, but many people write in Derja, often</a:t>
            </a:r>
          </a:p>
          <a:p>
            <a:r>
              <a:t>  in Latin script with digits. For example: "9adech ya5ou wa9t el passbor?", meaning "how long does a passport</a:t>
            </a:r>
          </a:p>
          <a:p>
            <a:r>
              <a:t>  take?".</a:t>
            </a:r>
          </a:p>
          <a:p>
            <a:r>
              <a:t>- **The sources are not even consistent.** The French and Arabic passport pages state different stamp duties:</a:t>
            </a:r>
          </a:p>
          <a:p>
            <a:r>
              <a:t>  twenty and sixty dinars on one, twenty-five and eighty on the other.</a:t>
            </a:r>
          </a:p>
          <a:p/>
          <a:p>
            <a:r>
              <a:t>A general chatbot would answer all of this fluently, and that is exactly the risk. An invented fee, a missing</a:t>
            </a:r>
          </a:p>
          <a:p>
            <a:r>
              <a:t>document or a wrong deadline costs a citizen a trip to an office, time and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we set five objectives:</a:t>
            </a:r>
          </a:p>
          <a:p>
            <a:r>
              <a:t>1. Answer only from verifiable official documents, with citations.</a:t>
            </a:r>
          </a:p>
          <a:p>
            <a:r>
              <a:t>2. Refuse, or ask a clarifying question, when the documents cannot answer.</a:t>
            </a:r>
          </a:p>
          <a:p>
            <a:r>
              <a:t>3. Support four languages without ever altering the official text.</a:t>
            </a:r>
          </a:p>
          <a:p>
            <a:r>
              <a:t>4. Check official forms and dossiers for missing information, without pretending to certify them.</a:t>
            </a:r>
          </a:p>
          <a:p>
            <a:r>
              <a:t>5. Run everything on one laptop with a four-gigabyte GPU: no paid API, and no data leaves the machine.</a:t>
            </a:r>
          </a:p>
          <a:p/>
          <a:p>
            <a:r>
              <a:t>Our scope is passports, the national identity card, and business registration at the RNE, including its legal</a:t>
            </a:r>
          </a:p>
          <a:p>
            <a:r>
              <a:t>texts and the two official registration forms.</a:t>
            </a:r>
          </a:p>
          <a:p>
            <a:r>
              <a:t>- **One exclusion is deliberate.** We wanted to cover birth certificates, but the only official source opts out</a:t>
            </a:r>
          </a:p>
          <a:p>
            <a:r>
              <a:t>  of AI use in its robots file. We respected that, and the assistant says that this procedure is not covered.</a:t>
            </a:r>
          </a:p>
          <a:p/>
          <a:p>
            <a:r>
              <a:t>The value is traceability. Every statement can be followed back to an official document with its address and</a:t>
            </a:r>
          </a:p>
          <a:p>
            <a:r>
              <a:t>checksum. The system is also free, private, and usable in the language people actually write in.</a:t>
            </a:r>
          </a:p>
          <a:p/>
          <a:p>
            <a:r>
              <a:t>Member 2 will now show you how the system is built.</a:t>
            </a:r>
          </a:p>
          <a:p/>
          <a:p>
            <a:r>
              <a:t>---</a:t>
            </a:r>
          </a:p>
          <a:p/>
          <a:p>
            <a:r>
              <a:t>## Member 2: System Architecture and Automation Workflow (slides 4–6, 3:20)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you see here runs locally, behind the loopback address.</a:t>
            </a:r>
          </a:p>
          <a:p>
            <a:r>
              <a:t>1. **The Telegram bridge.** A citizen writes to our Telegram bot. The bridge uses long polling: it pulls</a:t>
            </a:r>
          </a:p>
          <a:p>
            <a:r>
              <a:t>   messages from Telegram, so the machine needs no public address and no open port.</a:t>
            </a:r>
          </a:p>
          <a:p>
            <a:r>
              <a:t>2. **n8n.** The bridge sends the message, its language and a small conversation context to a webhook in n8n,</a:t>
            </a:r>
          </a:p>
          <a:p>
            <a:r>
              <a:t>   our orchestrator.</a:t>
            </a:r>
          </a:p>
          <a:p>
            <a:r>
              <a:t>3. **The FastAPI backend.** n8n calls six agent endpoints in the backend.</a:t>
            </a:r>
          </a:p>
          <a:p>
            <a:r>
              <a:t>4. **Qdrant**, our vector database, holds two collections of official chunks: 272 and 174.</a:t>
            </a:r>
          </a:p>
          <a:p>
            <a:r>
              <a:t>5. **Ollama** runs our three models on the host GPU: BGE-M3 for embeddings, Mistral 7B for the language</a:t>
            </a:r>
          </a:p>
          <a:p>
            <a:r>
              <a:t>   tasks, and TranslateGemma for French-to-English translation.</a:t>
            </a:r>
          </a:p>
          <a:p/>
          <a:p>
            <a:r>
              <a:t>A local web page and a command-line client use the same webhook as fallbacks. All ports are bound to</a:t>
            </a:r>
          </a:p>
          <a:p>
            <a:r>
              <a:t>127.0.0.1, and uploaded documents are processed in memory and never indexed.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real screenshots of our three workflows in the n8n editor.</a:t>
            </a:r>
          </a:p>
          <a:p>
            <a:r>
              <a:t>- **Workflow 01** downloads the official documents and rebuilds both indexes. It is deliberately inactive and</a:t>
            </a:r>
          </a:p>
          <a:p>
            <a:r>
              <a:t>  calls privileged backend endpoints, so it cannot run by accident.</a:t>
            </a:r>
          </a:p>
          <a:p>
            <a:r>
              <a:t>- **Workflow 02** is a small retrieval API: a webhook, one call to the retriever, and the passages returned</a:t>
            </a:r>
          </a:p>
          <a:p>
            <a:r>
              <a:t>  with their sources.</a:t>
            </a:r>
          </a:p>
          <a:p>
            <a:r>
              <a:t>- **Workflow 03** is the assistant itself: seventeen executable nodes. The coloured frames are sticky notes that</a:t>
            </a:r>
          </a:p>
          <a:p>
            <a:r>
              <a:t>  document each stage. Every agent call has an error output that ends in a single sanitised error reply.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follow one request.</a:t>
            </a:r>
          </a:p>
          <a:p>
            <a:r>
              <a:t>1. The webhook first checks whether a file is attached. Uploads go to the Form-Filling Helper, or to the</a:t>
            </a:r>
          </a:p>
          <a:p>
            <a:r>
              <a:t>   Dossier Validator in dossier mode.</a:t>
            </a:r>
          </a:p>
          <a:p>
            <a:r>
              <a:t>2. Text goes to the Intent Router. It detects the language, the procedure and the intent, using rules first and</a:t>
            </a:r>
          </a:p>
          <a:p>
            <a:r>
              <a:t>   the language model only as a fallback.</a:t>
            </a:r>
          </a:p>
          <a:p>
            <a:r>
              <a:t>3. If the router can answer directly, with a greeting, a clarifying question or a limits notice, n8n replies at</a:t>
            </a:r>
          </a:p>
          <a:p>
            <a:r>
              <a:t>   once.</a:t>
            </a:r>
          </a:p>
          <a:p>
            <a:r>
              <a:t>4. Otherwise the RAG Retriever finds the evidence, and n8n branches. Lists of required documents and fees go</a:t>
            </a:r>
          </a:p>
          <a:p>
            <a:r>
              <a:t>   to the Checklist Builder, which quotes the official text. Other questions go to the Grounded Answer agent.</a:t>
            </a:r>
          </a:p>
          <a:p/>
          <a:p>
            <a:r>
              <a:t>The latencies here are measured.</a:t>
            </a:r>
          </a:p>
          <a:p>
            <a:r>
              <a:t>- **Deterministic paths are fast:** an RNE row in 0.08 seconds, a French checklist in 0.19, a PDF form check in</a:t>
            </a:r>
          </a:p>
          <a:p>
            <a:r>
              <a:t>  0.16.</a:t>
            </a:r>
          </a:p>
          <a:p>
            <a:r>
              <a:t>- **Language-model paths are slow** on our GPU: an English checklist needs translation and takes about 17</a:t>
            </a:r>
          </a:p>
          <a:p>
            <a:r>
              <a:t>  seconds; a generated answer takes 20 to 70 seconds.</a:t>
            </a:r>
          </a:p>
          <a:p/>
          <a:p>
            <a:r>
              <a:t>That difference shaped the whole design, as Member 3 will explain with the prompts.</a:t>
            </a:r>
          </a:p>
          <a:p/>
          <a:p>
            <a:r>
              <a:t>---</a:t>
            </a:r>
          </a:p>
          <a:p/>
          <a:p>
            <a:r>
              <a:t>## Member 3: Prompt Engineering (slides 7–10, 3:20)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 a language model only where rules cannot decide, and we keep prompts as versioned files.</a:t>
            </a:r>
          </a:p>
          <a:p>
            <a:r>
              <a:t>- **Versioning.** Each prompt has its own folder, a registry selects the active version, and every response</a:t>
            </a:r>
          </a:p>
          <a:p>
            <a:r>
              <a:t>  records which prompt version produced it. A version is never edited in place.</a:t>
            </a:r>
          </a:p>
          <a:p>
            <a:r>
              <a:t>- **The four key prompts:**</a:t>
            </a:r>
          </a:p>
          <a:p>
            <a:r>
              <a:t>  - the router fallback;</a:t>
            </a:r>
          </a:p>
          <a:p>
            <a:r>
              <a:t>  - the grounded answer;</a:t>
            </a:r>
          </a:p>
          <a:p>
            <a:r>
              <a:t>  - the dialogue fact extractor;</a:t>
            </a:r>
          </a:p>
          <a:p>
            <a:r>
              <a:t>  - the checklist translator.</a:t>
            </a:r>
          </a:p>
          <a:p/>
          <a:p>
            <a:r>
              <a:t>  A fifth, the topic checker, is disabled because its verdicts were unstable.</a:t>
            </a:r>
          </a:p>
          <a:p>
            <a:r>
              <a:t>- **Techniques:** role prompting, grounding rules, checkable citations, JSON outputs, few-shot examples and</a:t>
            </a:r>
          </a:p>
          <a:p>
            <a:r>
              <a:t>  untrusted-input framing.</a:t>
            </a:r>
          </a:p>
          <a:p>
            <a:r>
              <a:t>- **Validation.** Every output is checked by code before it reaches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grounded-answer prompt went through three versions, all stored.</a:t>
            </a:r>
          </a:p>
          <a:p>
            <a:r>
              <a:t>- **Version 1** limited the output to 600 tokens, and we saw an Arabic answer cut in the middle of a sentence.</a:t>
            </a:r>
          </a:p>
          <a:p>
            <a:r>
              <a:t>  Lists of documents were also being summarised.</a:t>
            </a:r>
          </a:p>
          <a:p>
            <a:r>
              <a:t>- **Version 2** raised the budget to 900 tokens and added one rule: reproduce list items faithfully.</a:t>
            </a:r>
          </a:p>
          <a:p/>
          <a:p>
            <a:r>
              <a:t>On the same twelve development questions, acceptance rose from 0.667 to 0.750, and the share of answers in the</a:t>
            </a:r>
          </a:p>
          <a:p>
            <a:r>
              <a:t>correct language rose from 0.917 to one. Look at the same input on the right. With version 1, the answer was</a:t>
            </a:r>
          </a:p>
          <a:p>
            <a:r>
              <a:t>rejected, so an English user received an Arabic passage. With version 2, they get a correct English answer,</a:t>
            </a:r>
          </a:p>
          <a:p>
            <a:r>
              <a:t>"twenty percent or more of the capital", with citations.</a:t>
            </a:r>
          </a:p>
          <a:p/>
          <a:p>
            <a:r>
              <a:t>The cost: version 2 paraphrased more. A version 3 that quotes first gained one verbatim quote but was seven</a:t>
            </a:r>
          </a:p>
          <a:p>
            <a:r>
              <a:t>seconds slower, so we did not adopt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router, only one version exists, so we wrote a clearly labelled control baseline without our role,</a:t>
            </a:r>
          </a:p>
          <a:p>
            <a:r>
              <a:t>language notice and definitions. On 84 development questions, category accuracy rose from 0.714 to 0.881. The</a:t>
            </a:r>
          </a:p>
          <a:p>
            <a:r>
              <a:t>baseline called most business-registration questions "general".</a:t>
            </a:r>
          </a:p>
          <a:p>
            <a:r>
              <a:t>- **What did not improve:** Derja intent stayed weak, and the current prompt more often outputs a label outside</a:t>
            </a:r>
          </a:p>
          <a:p>
            <a:r>
              <a:t>  the allowed list. The code rejects those labels.</a:t>
            </a:r>
          </a:p>
          <a:p/>
          <a:p>
            <a:r>
              <a:t>For the dialogue extractor:</a:t>
            </a:r>
          </a:p>
          <a:p>
            <a:r>
              <a:t>- **Version 1** invented facts, such as "first application" for a plain question.</a:t>
            </a:r>
          </a:p>
          <a:p>
            <a:r>
              <a:t>- **Version 2** removed them.</a:t>
            </a:r>
          </a:p>
          <a:p>
            <a:r>
              <a:t>- **Version 3** added a JSON schema: all 18 outputs became valid.</a:t>
            </a:r>
          </a:p>
          <a:p/>
          <a:p>
            <a:r>
              <a:t>The code still removes invented quantities: prompts and validation work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translation, a plain "translate this" baseline rewrote dates and dropped a photo size. Our prompt keeps</a:t>
            </a:r>
          </a:p>
          <a:p>
            <a:r>
              <a:t>numbering and numbers, and the validator now accepts ten of eleven official checklists instead of four.</a:t>
            </a:r>
          </a:p>
          <a:p/>
          <a:p>
            <a:r>
              <a:t>French-to-Arabic translation was withdrawn instead: it turned "widow" into "one-eyed woman", while passing</a:t>
            </a:r>
          </a:p>
          <a:p>
            <a:r>
              <a:t>format checks.</a:t>
            </a:r>
          </a:p>
          <a:p/>
          <a:p>
            <a:r>
              <a:t>The general lesson: no prompt made a 7B model paraphrase law reliably. So legal articles are now extracted</a:t>
            </a:r>
          </a:p>
          <a:p>
            <a:r>
              <a:t>verbatim instead of generated. Member 4 explains how we find them.</a:t>
            </a:r>
          </a:p>
          <a:p/>
          <a:p>
            <a:r>
              <a:t>---</a:t>
            </a:r>
          </a:p>
          <a:p/>
          <a:p>
            <a:r>
              <a:t>## Member 4: Retrieval-Augmented Generation (slides 11–13, 3:20)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knowledge base is small on purpose: twelve official documents, each downloaded with its provenance.</a:t>
            </a:r>
          </a:p>
          <a:p>
            <a:r>
              <a:t>- **Provenance.** A registry lists eighteen candidate sources. The downloader respects robots files and AI</a:t>
            </a:r>
          </a:p>
          <a:p>
            <a:r>
              <a:t>  opt-outs and verifies TLS. It stores every original unmodified, with its SHA-256 checksum.</a:t>
            </a:r>
          </a:p>
          <a:p>
            <a:r>
              <a:t>- **What is indexed:**</a:t>
            </a:r>
          </a:p>
          <a:p>
            <a:r>
              <a:t>  - the passport guides in French and Arabic;</a:t>
            </a:r>
          </a:p>
          <a:p>
            <a:r>
              <a:t>  - the identity-card guide;</a:t>
            </a:r>
          </a:p>
          <a:p>
            <a:r>
              <a:t>  - the RNE table of ninety-five procedures;</a:t>
            </a:r>
          </a:p>
          <a:p>
            <a:r>
              <a:t>  - the two registration forms;</a:t>
            </a:r>
          </a:p>
          <a:p>
            <a:r>
              <a:t>  - six legal texts.</a:t>
            </a:r>
          </a:p>
          <a:p>
            <a:r>
              <a:t>- **Extraction.** Each document becomes typed blocks: headings, paragraphs, list items and table rows, with</a:t>
            </a:r>
          </a:p>
          <a:p>
            <a:r>
              <a:t>  page numbers.</a:t>
            </a:r>
          </a:p>
          <a:p>
            <a:r>
              <a:t>- **Two chunkers read the same blocks.** The structure-aware chunker keeps a heading with its list, or a table</a:t>
            </a:r>
          </a:p>
          <a:p>
            <a:r>
              <a:t>  row as one unit, and produces 272 chunks. The recursive splitter cuts every thousand characters with overlap,</a:t>
            </a:r>
          </a:p>
          <a:p>
            <a:r>
              <a:t>  and produces 174.</a:t>
            </a:r>
          </a:p>
          <a:p>
            <a:r>
              <a:t>- **Embeddings.** Both collections are embedded with BGE-M3 in 1024 dimensions, one multilingual space for</a:t>
            </a:r>
          </a:p>
          <a:p>
            <a:r>
              <a:t>  French, Arabic, English and Derja.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query time the router's category becomes a filter.</a:t>
            </a:r>
          </a:p>
          <a:p>
            <a:r>
              <a:t>- **Exact codes.** If the question names an RNE code, we do not search by similarity at all: a code is a key,</a:t>
            </a:r>
          </a:p>
          <a:p>
            <a:r>
              <a:t>  not a meaning, so we read that exact row.</a:t>
            </a:r>
          </a:p>
          <a:p>
            <a:r>
              <a:t>- **Fusion.** Otherwise we fuse three ranked lists with reciprocal rank fusion: dense search on the raw</a:t>
            </a:r>
          </a:p>
          <a:p>
            <a:r>
              <a:t>  question, dense search on an expanded question, and BM25 keyword search with normalisation of company types</a:t>
            </a:r>
          </a:p>
          <a:p>
            <a:r>
              <a:t>  and common Arabizi words.</a:t>
            </a:r>
          </a:p>
          <a:p>
            <a:r>
              <a:t>- **The cap.** At most two chunks per document reach the top five.</a:t>
            </a:r>
          </a:p>
          <a:p>
            <a:r>
              <a:t>- **After retrieval.** Retrieval only locates the evidence. The agents then read the complete official unit,</a:t>
            </a:r>
          </a:p>
          <a:p>
            <a:r>
              <a:t>  and citations are copied from the stored metadata, never generated.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measured retrieval against evidence spans verified verbatim in the official text, on 71 labelled development</a:t>
            </a:r>
          </a:p>
          <a:p>
            <a:r>
              <a:t>questions.</a:t>
            </a:r>
          </a:p>
          <a:p>
            <a:r>
              <a:t>- **Hit@5** asks whether at least one relevant chunk is in the top five. **MRR** rewards ranking it first.</a:t>
            </a:r>
          </a:p>
          <a:p>
            <a:r>
              <a:t>- Raw dense retrieval reaches 0.732. Our earlier agent retriever was worse, at 0.704. Fusion raised it to 0.845,</a:t>
            </a:r>
          </a:p>
          <a:p>
            <a:r>
              <a:t>  and the cap to 0.873, with MRR 0.675.</a:t>
            </a:r>
          </a:p>
          <a:p/>
          <a:p>
            <a:r>
              <a:t>The chunking result is interesting: the winner depends on the retriever. With dense search alone, recursive</a:t>
            </a:r>
          </a:p>
          <a:p>
            <a:r>
              <a:t>chunks win. With fusion and the cap, structure-aware chunks win, because one table row becomes one exact match.</a:t>
            </a:r>
          </a:p>
          <a:p/>
          <a:p>
            <a:r>
              <a:t>Be careful with these gains. On 20 held-out questions the hybrid only ties dense retrieval, so part of the</a:t>
            </a:r>
          </a:p>
          <a:p>
            <a:r>
              <a:t>improvement was overfitting. And Latin-script Derja remains our weakest language. Member 5 now explains the</a:t>
            </a:r>
          </a:p>
          <a:p>
            <a:r>
              <a:t>agents that use these passages.</a:t>
            </a:r>
          </a:p>
          <a:p/>
          <a:p>
            <a:r>
              <a:t>---</a:t>
            </a:r>
          </a:p>
          <a:p/>
          <a:p>
            <a:r>
              <a:t>## Member 5: Multi-Agent Architecture and Multimodality (slides 14–15, 3:20)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describe our system honestly as an orchestrated multi-agent architecture, not an autonomous one. n8n decides</a:t>
            </a:r>
          </a:p>
          <a:p>
            <a:r>
              <a:t>the flow; no agent plans or chooses tools at run time.</a:t>
            </a:r>
          </a:p>
          <a:p>
            <a:r>
              <a:t>- **The Intent Router** is a rule-first agent. It owns the language, procedure, intent and dialogue state, and</a:t>
            </a:r>
          </a:p>
          <a:p>
            <a:r>
              <a:t>  asks clarifying questions. It calls the language model only when no rule applies.</a:t>
            </a:r>
          </a:p>
          <a:p>
            <a:r>
              <a:t>- **The Retriever** is deterministic.</a:t>
            </a:r>
          </a:p>
          <a:p>
            <a:r>
              <a:t>- **The Checklist Builder** quotes official sections verbatim and uses a model only to translate into English.</a:t>
            </a:r>
          </a:p>
          <a:p>
            <a:r>
              <a:t>- **The Grounded Answer agent** decides between extracting an article or table row, generating a verified</a:t>
            </a:r>
          </a:p>
          <a:p>
            <a:r>
              <a:t>  answer, or refusing.</a:t>
            </a:r>
          </a:p>
          <a:p>
            <a:r>
              <a:t>- **The Form-Filling Helper and the Dossier Validator** use no language model at all.</a:t>
            </a:r>
          </a:p>
          <a:p/>
          <a:p>
            <a:r>
              <a:t>Why separate them? Lists must be complete and verbatim. Codes are keys. Legal text must not be paraphrased by a</a:t>
            </a:r>
          </a:p>
          <a:p>
            <a:r>
              <a:t>seven-billion-parameter model. Forms need geometry. And readiness must never be certified by a model.</a:t>
            </a:r>
          </a:p>
          <a:p/>
          <a:p>
            <a:r>
              <a:t>We have direct evidence for this choice. When RNE follow-ups and legal questions went through one generic</a:t>
            </a:r>
          </a:p>
          <a:p>
            <a:r>
              <a:t>path, all 190 RNE follow-ups returned only source links, and the official legal passage appeared in one answer</a:t>
            </a:r>
          </a:p>
          <a:p>
            <a:r>
              <a:t>out of thirty. After the dedicated paths: 190 out of 190, and 26 out of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Citizens can also send a form as a PDF, a scan or a phone photo.</a:t>
            </a:r>
          </a:p>
          <a:p>
            <a:r>
              <a:t>1. We check the type, the file signature and the size, up to ten megabytes.</a:t>
            </a:r>
          </a:p>
          <a:p>
            <a:r>
              <a:t>2. A digital PDF is compared geometrically with the official blank form.</a:t>
            </a:r>
          </a:p>
          <a:p>
            <a:r>
              <a:t>3. A photo is first deskewed and read with Tesseract OCR in Arabic and French. Then a RANSAC homography aligns it</a:t>
            </a:r>
          </a:p>
          <a:p>
            <a:r>
              <a:t>   with the blank form, using anchor words.</a:t>
            </a:r>
          </a:p>
          <a:p>
            <a:r>
              <a:t>4. Finally we measure the ink inside each field band, because OCR alone cannot read handwriting on dotted</a:t>
            </a:r>
          </a:p>
          <a:p>
            <a:r>
              <a:t>   lines.</a:t>
            </a:r>
          </a:p>
          <a:p/>
          <a:p>
            <a:r>
              <a:t>The table shows real results we ran on the candidate backend. Blank forms are recognised with every field empty.</a:t>
            </a:r>
          </a:p>
          <a:p>
            <a:r>
              <a:t>A form with three filled fields, rotated as a JPEG photo, still shows three filled. Corrupt, unsupported and</a:t>
            </a:r>
          </a:p>
          <a:p>
            <a:r>
              <a:t>oversized files are handled safely. Thirteen of thirteen cases behave as expected, and an image takes about 2.5</a:t>
            </a:r>
          </a:p>
          <a:p>
            <a:r>
              <a:t>seconds. The filled text in these fixtures is the neutral word "placeholder", never personal data.</a:t>
            </a:r>
          </a:p>
          <a:p/>
          <a:p>
            <a:r>
              <a:t>The Dossier Validator builds on this. It reports field status, quotes the official requirements verbatim, and</a:t>
            </a:r>
          </a:p>
          <a:p>
            <a:r>
              <a:t>never certifies completeness, because no official list of RNE supporting documents exists.</a:t>
            </a:r>
          </a:p>
          <a:p/>
          <a:p>
            <a:r>
              <a:t>Now Member 6 will show the system live.</a:t>
            </a:r>
          </a:p>
          <a:p/>
          <a:p>
            <a:r>
              <a:t>---</a:t>
            </a:r>
          </a:p>
          <a:p/>
          <a:p>
            <a:r>
              <a:t>## Member 6: Live Demonstration, Evaluation and Conclusion (slides 16–19, 3:20 including about 90 s of demo)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chose four interactions on fast, deterministic paths, so that the demo does not depend on a slow model.</a:t>
            </a:r>
          </a:p>
          <a:p>
            <a:r>
              <a:t>- **First,** I ask in French which documents are needed to renew a passport, living in Tunisia. You see the</a:t>
            </a:r>
          </a:p>
          <a:p>
            <a:r>
              <a:t>  official list, quoted, with its source. *(Show the n8n execution briefly.)*</a:t>
            </a:r>
          </a:p>
          <a:p>
            <a:r>
              <a:t>- **Second,** a follow-up: "and how much does it cost?". The context is kept, and we get the fee section,</a:t>
            </a:r>
          </a:p>
          <a:p>
            <a:r>
              <a:t>  including the warning about the French and Arabic difference.</a:t>
            </a:r>
          </a:p>
          <a:p>
            <a:r>
              <a:t>- **Third,** in Latin-script Derja: the fee for procedure RNE C 012. The exact official row comes back.</a:t>
            </a:r>
          </a:p>
          <a:p>
            <a:r>
              <a:t>- **Fourth,** a photo of the blank F-001 form in form-check mode: seven fields reported empty.</a:t>
            </a:r>
          </a:p>
          <a:p/>
          <a:p>
            <a:r>
              <a:t>If the bot is slow, we show the recorded results from today's evaluation run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release, an independent audit replayed 728 end-to-end cases through n8n.</a:t>
            </a:r>
          </a:p>
          <a:p>
            <a:r>
              <a:t>- **What the earlier metrics missed.** Our citation metric had always been perfect, and it still hid two</a:t>
            </a:r>
          </a:p>
          <a:p>
            <a:r>
              <a:t>  serious problems: every RNE follow-up returned only links, and one legal provision was fabricated behind a</a:t>
            </a:r>
          </a:p>
          <a:p>
            <a:r>
              <a:t>  valid citation.</a:t>
            </a:r>
          </a:p>
          <a:p>
            <a:r>
              <a:t>- **After the corrections, on the same cases:**</a:t>
            </a:r>
          </a:p>
          <a:p>
            <a:r>
              <a:t>  - exact RNE rows went from 0 to 190 out of 190;</a:t>
            </a:r>
          </a:p>
          <a:p>
            <a:r>
              <a:t>  - targeted official facts from 281 to all 480;</a:t>
            </a:r>
          </a:p>
          <a:p>
            <a:r>
              <a:t>  - legal answers with the official passage from 1 to 26 out of 30;</a:t>
            </a:r>
          </a:p>
          <a:p>
            <a:r>
              <a:t>  - form instructions from 0 to 10.</a:t>
            </a:r>
          </a:p>
          <a:p>
            <a:r>
              <a:t>- **The fabricated provision is gone,** and every citation points to the official manifest. Today's</a:t>
            </a:r>
          </a:p>
          <a:p>
            <a:r>
              <a:t>  multilingual and unit-test runs are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limits are real:</a:t>
            </a:r>
          </a:p>
          <a:p>
            <a:r>
              <a:t>- a small corpus whose legal currency is not verified;</a:t>
            </a:r>
          </a:p>
          <a:p>
            <a:r>
              <a:t>- no official list of RNE supporting documents;</a:t>
            </a:r>
          </a:p>
          <a:p>
            <a:r>
              <a:t>- weak Latin-script Derja retrieval;</a:t>
            </a:r>
          </a:p>
          <a:p>
            <a:r>
              <a:t>- slow model answers;</a:t>
            </a:r>
          </a:p>
          <a:p>
            <a:r>
              <a:t>- no tests on real handwriting;</a:t>
            </a:r>
          </a:p>
          <a:p>
            <a:r>
              <a:t>- labels written by the team.</a:t>
            </a:r>
          </a:p>
          <a:p/>
          <a:p>
            <a:r>
              <a:t>Next we would add human-reviewed labels, activate the prepared security keys, validate legal translation with</a:t>
            </a:r>
          </a:p>
          <a:p>
            <a:r>
              <a:t>experts, and add a semantic check between answer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conclude:</a:t>
            </a:r>
          </a:p>
          <a:p>
            <a:r>
              <a:t>- **Grounded by construction.** Lists, rows, articles and form instructions are quoted, and generation is</a:t>
            </a:r>
          </a:p>
          <a:p>
            <a:r>
              <a:t>  fenced and verified.</a:t>
            </a:r>
          </a:p>
          <a:p>
            <a:r>
              <a:t>- **Measured, not assumed.** Our evaluation reports failures as well as successes.</a:t>
            </a:r>
          </a:p>
          <a:p>
            <a:r>
              <a:t>- **Local and multilingual,** on one laptop.</a:t>
            </a:r>
          </a:p>
          <a:p/>
          <a:p>
            <a:r>
              <a:t>Our main lesson: perfect citation metrics can hide wrong answers. The fix that worked was architectural:</a:t>
            </a:r>
          </a:p>
          <a:p>
            <a:r>
              <a:t>extract, do not paraphrase. Thank you. We are happy to take your questions.</a:t>
            </a:r>
          </a:p>
          <a:p/>
          <a:p>
            <a:r>
              <a:t>---</a:t>
            </a:r>
          </a:p>
          <a:p/>
          <a:p>
            <a:r>
              <a:t>## Backup slides (spoken only if asked)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divider: no 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Security. The candidate closes the admin endpoints by default, and makes agent and webhook keys optional. We</a:t>
            </a:r>
          </a:p>
          <a:p>
            <a:r>
              <a:t>will activate them in a separate, ordered phase, with callers configured first and enforcement last. The</a:t>
            </a:r>
          </a:p>
          <a:p>
            <a:r>
              <a:t>reason: n8n turns any error, including authentication errors, into a 503, so a mismatch would look like an</a:t>
            </a:r>
          </a:p>
          <a:p>
            <a:r>
              <a:t>outage.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retrieval table. All eight configurations, plus Hit@5 per language on the parallel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Numeric verifier. Every digit in a generated answer must appear in the cited passage, as digits or as number</a:t>
            </a:r>
          </a:p>
          <a:p>
            <a:r>
              <a:t>words. It removed every unsupported number on five sets, at a cost of about three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Dialogue prompt detail. The raw and the validated metrics for v1, v2 and v3 on identical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Router baseline vs v1 per language. The improvement is largest in English and smallest in Derja.</a:t>
            </a:r>
          </a:p>
          <a:p/>
          <a:p>
            <a:r>
              <a:t>---</a:t>
            </a:r>
          </a:p>
          <a:p/>
          <a:p>
            <a:r>
              <a:t>## Word counts and estimated durations (measured with `presentation/check_timing.py`)</a:t>
            </a:r>
          </a:p>
          <a:p/>
          <a:p>
            <a:r>
              <a:t>See `PRESENTATION_TIMELINE.md` for the measured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63040"/>
            <a:ext cx="12191695" cy="2926080"/>
          </a:xfrm>
          <a:prstGeom prst="rect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Tunisian Administrative Procedures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D6E2F0"/>
                </a:solidFill>
                <a:latin typeface="Segoe UI"/>
              </a:rPr>
              <a:t>A local, source-grounded multi-agent RAG system for multilingual administrative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A33D"/>
                </a:solidFill>
                <a:latin typeface="Segoe UI"/>
              </a:rPr>
              <a:t>Telegram · n8n · FastAPI · Qdrant · Ollama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Segoe UI"/>
              </a:rPr>
              <a:t>French · English · Arabic · Tunisian Derja (Arabic and Latin script)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0"/>
                </a:solidFill>
                <a:latin typeface="Segoe UI"/>
              </a:rPr>
              <a:t>Advanced Deep Learning · Team of six ·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8C99A6"/>
                </a:solidFill>
                <a:latin typeface="Segoe UI"/>
              </a:rPr>
              <a:t>Member 1 · Member 2 · Member 3 · Member 4 · Member 5 · Member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1 · Introduction and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Fragmented, bilingual and risky to paraphrase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611880" cy="356616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11880" cy="109728"/>
          </a:xfrm>
          <a:prstGeom prst="rect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2305B"/>
                </a:solidFill>
                <a:latin typeface="Segoe UI"/>
              </a:rPr>
              <a:t>Fragmented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9184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4A5560"/>
                </a:solidFill>
                <a:latin typeface="Segoe UI"/>
              </a:rPr>
              <a:t>Ministry of the Interior guides (FR / AR)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4A5560"/>
                </a:solidFill>
                <a:latin typeface="Segoe UI"/>
              </a:rPr>
              <a:t>RNE table of 95 procedures with fees and deadlines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4A5560"/>
                </a:solidFill>
                <a:latin typeface="Segoe UI"/>
              </a:rPr>
              <a:t>Laws and decrees as Official Journal PDFs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554480"/>
            <a:ext cx="3611880" cy="356616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554480"/>
            <a:ext cx="3611880" cy="1097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7830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8B8D"/>
                </a:solidFill>
                <a:latin typeface="Segoe UI"/>
              </a:rPr>
              <a:t>Language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377440"/>
            <a:ext cx="329184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4A5560"/>
                </a:solidFill>
                <a:latin typeface="Segoe UI"/>
              </a:rPr>
              <a:t>Official text: French and Arabic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4A5560"/>
                </a:solidFill>
                <a:latin typeface="Segoe UI"/>
              </a:rPr>
              <a:t>Users often write Tunisian Derja, in Latin script with digits: “9adech ya5ou wa9t el passbor?”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54480"/>
            <a:ext cx="3611880" cy="356616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1554480"/>
            <a:ext cx="3611880" cy="109728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17830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B83A3A"/>
                </a:solidFill>
                <a:latin typeface="Segoe UI"/>
              </a:rPr>
              <a:t>High stakes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377440"/>
            <a:ext cx="329184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4A5560"/>
                </a:solidFill>
                <a:latin typeface="Segoe UI"/>
              </a:rPr>
              <a:t>FR and AR passport pages state different stamp duties: 20/60 vs 25/80 TND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4A5560"/>
                </a:solidFill>
                <a:latin typeface="Segoe UI"/>
              </a:rPr>
              <a:t>A fluent but invented fee or document costs citizens time and money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report §1; official pages interior passport guide FR/AR (data/raw), RNE formalities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1 · Introduction and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Objectives, scope and expected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08760"/>
            <a:ext cx="566928" cy="566928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81912"/>
            <a:ext cx="56692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0"/>
                </a:solidFill>
                <a:latin typeface="Segoe UI"/>
              </a:rPr>
              <a:t>Answer only from verifiable official documents, with citations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95144"/>
            <a:ext cx="566928" cy="566928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68296"/>
            <a:ext cx="56692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0"/>
                </a:solidFill>
                <a:latin typeface="Segoe UI"/>
              </a:rPr>
              <a:t>Refuse or ask for clarification when the corpus cannot answer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81528"/>
            <a:ext cx="566928" cy="566928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54680"/>
            <a:ext cx="56692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0"/>
                </a:solidFill>
                <a:latin typeface="Segoe UI"/>
              </a:rPr>
              <a:t>Support FR, EN, AR and Derja without altering official text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67912"/>
            <a:ext cx="566928" cy="566928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41064"/>
            <a:ext cx="56692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0"/>
                </a:solidFill>
                <a:latin typeface="Segoe UI"/>
              </a:rPr>
              <a:t>Check official forms and dossiers without certifying them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654296"/>
            <a:ext cx="566928" cy="566928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27448"/>
            <a:ext cx="56692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0"/>
                </a:solidFill>
                <a:latin typeface="Segoe UI"/>
              </a:rPr>
              <a:t>Run on one laptop (4 GB GPU): no paid API, no data leaves the machine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508760"/>
            <a:ext cx="4526280" cy="2148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600" b="1" i="0">
                <a:solidFill>
                  <a:srgbClr val="12305B"/>
                </a:solidFill>
                <a:latin typeface="Segoe UI"/>
              </a:rPr>
              <a:t>Scope</a:t>
            </a:r>
          </a:p>
          <a:p>
            <a:pPr algn="l"/>
            <a:r>
              <a:rPr sz="1400" b="0" i="0">
                <a:solidFill>
                  <a:srgbClr val="4A5560"/>
                </a:solidFill>
                <a:latin typeface="Segoe UI"/>
              </a:rPr>
              <a:t>Passports · National identity card (CIN)</a:t>
            </a:r>
          </a:p>
          <a:p>
            <a:pPr algn="l"/>
            <a:r>
              <a:rPr sz="1400" b="0" i="0">
                <a:solidFill>
                  <a:srgbClr val="4A5560"/>
                </a:solidFill>
                <a:latin typeface="Segoe UI"/>
              </a:rPr>
              <a:t>RNE business registration (95 procedures, 6 legal texts, forms F-001/F-002)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794760"/>
            <a:ext cx="4526280" cy="1143000"/>
          </a:xfrm>
          <a:prstGeom prst="roundRect">
            <a:avLst>
              <a:gd name="adj" fmla="val 12000"/>
            </a:avLst>
          </a:prstGeom>
          <a:solidFill>
            <a:srgbClr val="F8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500" b="1" i="0">
                <a:solidFill>
                  <a:srgbClr val="B83A3A"/>
                </a:solidFill>
                <a:latin typeface="Segoe UI"/>
              </a:rPr>
              <a:t>Deliberately excluded</a:t>
            </a:r>
          </a:p>
          <a:p>
            <a:pPr algn="l"/>
            <a:r>
              <a:rPr sz="1300" b="0" i="0">
                <a:solidFill>
                  <a:srgbClr val="4A5560"/>
                </a:solidFill>
                <a:latin typeface="Segoe UI"/>
              </a:rPr>
              <a:t>Birth certificates: the only source opts out of AI use (robots.txt)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5074920"/>
            <a:ext cx="452628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2E7D4F"/>
                </a:solidFill>
                <a:latin typeface="Segoe UI"/>
              </a:rPr>
              <a:t>Value: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traceable answers, free, private, multilingual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report §1 (objectives, scope); config/sources.yaml (exclusions with recorded reasons)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2 · System Architecture and Automation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Architecture: everything runs locally behind 127.0.0.1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4A5560"/>
                </a:solidFill>
                <a:latin typeface="Segoe UI"/>
              </a:rPr>
              <a:t>Citizen</a:t>
            </a:r>
          </a:p>
          <a:p>
            <a:pPr algn="ctr"/>
            <a:r>
              <a:rPr sz="1100" b="1" i="0">
                <a:solidFill>
                  <a:srgbClr val="4A5560"/>
                </a:solidFill>
                <a:latin typeface="Segoe UI"/>
              </a:rPr>
              <a:t>Telegram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>Web page / CLI</a:t>
            </a:r>
          </a:p>
          <a:p>
            <a:pPr algn="ctr"/>
            <a:r>
              <a:rPr sz="1100" b="0" i="0">
                <a:solidFill>
                  <a:srgbClr val="4A5560"/>
                </a:solidFill>
                <a:latin typeface="Segoe UI"/>
              </a:rPr>
              <a:t>same webhook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28800"/>
            <a:ext cx="1920240" cy="82296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4A5560"/>
                </a:solidFill>
                <a:latin typeface="Segoe UI"/>
              </a:rPr>
              <a:t>Telegram bridge</a:t>
            </a:r>
          </a:p>
          <a:p>
            <a:pPr algn="ctr"/>
            <a:r>
              <a:rPr sz="1000" b="1" i="0">
                <a:solidFill>
                  <a:srgbClr val="4A5560"/>
                </a:solidFill>
                <a:latin typeface="Segoe UI"/>
              </a:rPr>
              <a:t>long polling, no inbound 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828800"/>
            <a:ext cx="1920240" cy="2103120"/>
          </a:xfrm>
          <a:prstGeom prst="roundRect">
            <a:avLst>
              <a:gd name="adj" fmla="val 12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n8n 2.41.3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wf 03 assistant (17 nodes)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wf 02 retrieve API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wf 01 ingest+index (inactive)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55448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4A5560"/>
                </a:solidFill>
                <a:latin typeface="Segoe UI"/>
              </a:rPr>
              <a:t>FastAPI backend</a:t>
            </a:r>
          </a:p>
          <a:p>
            <a:pPr algn="ctr"/>
            <a:r>
              <a:rPr sz="1000" b="1" i="0">
                <a:solidFill>
                  <a:srgbClr val="4A5560"/>
                </a:solidFill>
                <a:latin typeface="Consolas"/>
              </a:rPr>
              <a:t>/agents/route</a:t>
            </a:r>
          </a:p>
          <a:p>
            <a:pPr algn="ctr"/>
            <a:r>
              <a:rPr sz="1000" b="1" i="0">
                <a:solidFill>
                  <a:srgbClr val="4A5560"/>
                </a:solidFill>
                <a:latin typeface="Consolas"/>
              </a:rPr>
              <a:t>/agents/retrieve</a:t>
            </a:r>
          </a:p>
          <a:p>
            <a:pPr algn="ctr"/>
            <a:r>
              <a:rPr sz="1000" b="1" i="0">
                <a:solidFill>
                  <a:srgbClr val="4A5560"/>
                </a:solidFill>
                <a:latin typeface="Consolas"/>
              </a:rPr>
              <a:t>/agents/checklist</a:t>
            </a:r>
          </a:p>
          <a:p>
            <a:pPr algn="ctr"/>
            <a:r>
              <a:rPr sz="1000" b="1" i="0">
                <a:solidFill>
                  <a:srgbClr val="4A5560"/>
                </a:solidFill>
                <a:latin typeface="Consolas"/>
              </a:rPr>
              <a:t>/agents/answer</a:t>
            </a:r>
          </a:p>
          <a:p>
            <a:pPr algn="ctr"/>
            <a:r>
              <a:rPr sz="1000" b="1" i="0">
                <a:solidFill>
                  <a:srgbClr val="4A5560"/>
                </a:solidFill>
                <a:latin typeface="Consolas"/>
              </a:rPr>
              <a:t>/agents/form-check</a:t>
            </a:r>
          </a:p>
          <a:p>
            <a:pPr algn="ctr"/>
            <a:r>
              <a:rPr sz="1000" b="1" i="0">
                <a:solidFill>
                  <a:srgbClr val="4A5560"/>
                </a:solidFill>
                <a:latin typeface="Consolas"/>
              </a:rPr>
              <a:t>/agents/dossier-check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1554480"/>
            <a:ext cx="1783080" cy="960120"/>
          </a:xfrm>
          <a:prstGeom prst="roundRect">
            <a:avLst>
              <a:gd name="adj" fmla="val 12000"/>
            </a:avLst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Qdrant 1.19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272 + 174 chunks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2697480"/>
            <a:ext cx="1783080" cy="109728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Ollama 0.40.4</a:t>
            </a:r>
          </a:p>
          <a:p>
            <a:pPr algn="ctr"/>
            <a:r>
              <a:rPr sz="1000" b="1" i="0">
                <a:solidFill>
                  <a:srgbClr val="12305B"/>
                </a:solidFill>
                <a:latin typeface="Segoe UI"/>
              </a:rPr>
              <a:t>bge-m3 · mistral 7B</a:t>
            </a:r>
          </a:p>
          <a:p>
            <a:pPr algn="ctr"/>
            <a:r>
              <a:rPr sz="1000" b="1" i="0">
                <a:solidFill>
                  <a:srgbClr val="12305B"/>
                </a:solidFill>
                <a:latin typeface="Segoe UI"/>
              </a:rPr>
              <a:t>translategemma 4B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3977639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8C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Official corpus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12 docs + SHA-256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2240280"/>
            <a:ext cx="45720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2240280"/>
            <a:ext cx="45720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94560" y="3520440"/>
            <a:ext cx="283464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49440" y="2880360"/>
            <a:ext cx="45720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2011680"/>
            <a:ext cx="45720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09760" y="3246120"/>
            <a:ext cx="45720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09760" y="4389120"/>
            <a:ext cx="45720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5120640"/>
            <a:ext cx="11292840" cy="7772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2305B"/>
                </a:solidFill>
                <a:latin typeface="Segoe UI"/>
              </a:rPr>
              <a:t>Design choices: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Docker Compose · ports bound to 127.0.0.1 · Ollama on the host GPU (RTX 3050, 4 GB) reached via host.docker.internal · no paid API · uploads processed in memory, never indexed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docker-compose.yml; backend/main.py; backend/agents_api.py; live inventory 2026-10-18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2 · System Architecture and Automation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Three real n8n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A5560"/>
                </a:solidFill>
                <a:latin typeface="Segoe UI"/>
              </a:rPr>
              <a:t>Screenshots of the live editor (Zoom to Fit), 2026-10-18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5</a:t>
            </a:r>
          </a:p>
        </p:txBody>
      </p:sp>
      <p:pic>
        <p:nvPicPr>
          <p:cNvPr id="8" name="Picture 7" descr="n8n_workflow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3429000" cy="2856075"/>
          </a:xfrm>
          <a:prstGeom prst="rect">
            <a:avLst/>
          </a:prstGeom>
          <a:ln w="12700">
            <a:solidFill>
              <a:srgbClr val="8C99A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4617720"/>
            <a:ext cx="3611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305B"/>
                </a:solidFill>
                <a:latin typeface="Segoe UI"/>
              </a:rPr>
              <a:t>01 · Ingest and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56048"/>
            <a:ext cx="3611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560"/>
                </a:solidFill>
                <a:latin typeface="Segoe UI"/>
              </a:rPr>
              <a:t>5 nodes · inactive · admin-only backend calls</a:t>
            </a:r>
          </a:p>
        </p:txBody>
      </p:sp>
      <p:pic>
        <p:nvPicPr>
          <p:cNvPr id="11" name="Picture 10" descr="n8n_workflow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691640"/>
            <a:ext cx="3429000" cy="2856075"/>
          </a:xfrm>
          <a:prstGeom prst="rect">
            <a:avLst/>
          </a:prstGeom>
          <a:ln w="12700">
            <a:solidFill>
              <a:srgbClr val="8C99A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279392" y="4617720"/>
            <a:ext cx="3611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305B"/>
                </a:solidFill>
                <a:latin typeface="Segoe UI"/>
              </a:rPr>
              <a:t>02 · Retrieval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4956048"/>
            <a:ext cx="3611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560"/>
                </a:solidFill>
                <a:latin typeface="Segoe UI"/>
              </a:rPr>
              <a:t>3 nodes · published · POST /webhook/retrieve</a:t>
            </a:r>
          </a:p>
        </p:txBody>
      </p:sp>
      <p:pic>
        <p:nvPicPr>
          <p:cNvPr id="14" name="Picture 13" descr="n8n_workflow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3" y="1691640"/>
            <a:ext cx="3429000" cy="2856075"/>
          </a:xfrm>
          <a:prstGeom prst="rect">
            <a:avLst/>
          </a:prstGeom>
          <a:ln w="12700">
            <a:solidFill>
              <a:srgbClr val="8C99A6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101583" y="4617720"/>
            <a:ext cx="3611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305B"/>
                </a:solidFill>
                <a:latin typeface="Segoe UI"/>
              </a:rPr>
              <a:t>03 · Assistant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4956048"/>
            <a:ext cx="3611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560"/>
                </a:solidFill>
                <a:latin typeface="Segoe UI"/>
              </a:rPr>
              <a:t>17 nodes · published · POST /webhook/assistant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532120"/>
            <a:ext cx="11292840" cy="50292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>Sticky-note frames document each stage; every agent call in 03 has an error output to a sanitised HTTP 503 reply.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workflows/*.json = live published versions (verified 2026-10-18); n8n editor screenshots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2 · System Architecture and Automation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One request,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A5560"/>
                </a:solidFill>
                <a:latin typeface="Segoe UI"/>
              </a:rPr>
              <a:t>Workflow 03 routes on file, dossier mode and the router's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1298448" cy="1005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5875">
            <a:solidFill>
              <a:srgbClr val="4A5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Telegram</a:t>
            </a:r>
          </a:p>
          <a:p>
            <a:pPr algn="ctr"/>
            <a:r>
              <a:rPr sz="1000" b="0" i="0">
                <a:solidFill>
                  <a:srgbClr val="4A5560"/>
                </a:solidFill>
                <a:latin typeface="Segoe UI"/>
              </a:rPr>
              <a:t>user message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92808" y="1874519"/>
            <a:ext cx="1298448" cy="100584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Bridge</a:t>
            </a:r>
          </a:p>
          <a:p>
            <a:pPr algn="ctr"/>
            <a:r>
              <a:rPr sz="1000" b="0" i="0">
                <a:solidFill>
                  <a:srgbClr val="4A5560"/>
                </a:solidFill>
                <a:latin typeface="Segoe UI"/>
              </a:rPr>
              <a:t>language, session 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55648" y="2377440"/>
            <a:ext cx="13716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28416" y="1874519"/>
            <a:ext cx="1298448" cy="1005840"/>
          </a:xfrm>
          <a:prstGeom prst="roundRect">
            <a:avLst>
              <a:gd name="adj" fmla="val 12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Webhook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File attached?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91256" y="2377440"/>
            <a:ext cx="13716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64024" y="1874519"/>
            <a:ext cx="1298448" cy="100584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Intent Router</a:t>
            </a:r>
          </a:p>
          <a:p>
            <a:pPr algn="ctr"/>
            <a:r>
              <a:rPr sz="1000" b="0" i="0">
                <a:solidFill>
                  <a:srgbClr val="4A5560"/>
                </a:solidFill>
                <a:latin typeface="Segoe UI"/>
              </a:rPr>
              <a:t>rules first, LLM fallback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26864" y="2377440"/>
            <a:ext cx="13716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99632" y="1874519"/>
            <a:ext cx="1298448" cy="1005840"/>
          </a:xfrm>
          <a:prstGeom prst="roundRect">
            <a:avLst>
              <a:gd name="adj" fmla="val 12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Direct reply?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greeting / clarification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62472" y="2377440"/>
            <a:ext cx="13716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35240" y="1874519"/>
            <a:ext cx="1298448" cy="100584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RAG Retriever</a:t>
            </a:r>
          </a:p>
          <a:p>
            <a:pPr algn="ctr"/>
            <a:r>
              <a:rPr sz="1000" b="0" i="0">
                <a:solidFill>
                  <a:srgbClr val="4A5560"/>
                </a:solidFill>
                <a:latin typeface="Segoe UI"/>
              </a:rPr>
              <a:t>hybrid or exact code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0" y="2377440"/>
            <a:ext cx="13716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70848" y="1874519"/>
            <a:ext cx="1298448" cy="1005840"/>
          </a:xfrm>
          <a:prstGeom prst="roundRect">
            <a:avLst>
              <a:gd name="adj" fmla="val 12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Checklist?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next_agent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33688" y="2377440"/>
            <a:ext cx="13716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506456" y="1874519"/>
            <a:ext cx="1298448" cy="1005840"/>
          </a:xfrm>
          <a:prstGeom prst="roundRect">
            <a:avLst>
              <a:gd name="adj" fmla="val 12000"/>
            </a:avLst>
          </a:prstGeom>
          <a:solidFill>
            <a:srgbClr val="FCF0DC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Builder / Answer</a:t>
            </a:r>
          </a:p>
          <a:p>
            <a:pPr algn="ctr"/>
            <a:r>
              <a:rPr sz="1000" b="0" i="0">
                <a:solidFill>
                  <a:srgbClr val="4A5560"/>
                </a:solidFill>
                <a:latin typeface="Segoe UI"/>
              </a:rPr>
              <a:t>verbatim or verified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69296" y="2377440"/>
            <a:ext cx="13716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" y="324612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2305B"/>
                </a:solidFill>
                <a:latin typeface="Segoe UI"/>
              </a:rPr>
              <a:t>Uploads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(PDF, PNG, JPEG, Telegram photo) go to the Form-Filling Helper, or to the Dossier Validator in /dossier_check mode.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24612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8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B83A3A"/>
                </a:solidFill>
                <a:latin typeface="Segoe UI"/>
              </a:rPr>
              <a:t>Errors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from any of the six agent calls go to one sanitised 503 reply; the bridge retries, then shows a localised message.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2305B"/>
                </a:solidFill>
                <a:latin typeface="Segoe UI"/>
              </a:rPr>
              <a:t>Measured latency, final candidate alone on the GPU (median of 3):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9204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0F8B8D"/>
                </a:solidFill>
                <a:latin typeface="Segoe UI"/>
              </a:rPr>
              <a:t>0.08 s</a:t>
            </a:r>
          </a:p>
          <a:p>
            <a:pPr algn="ctr"/>
            <a:r>
              <a:rPr sz="1100" b="0" i="0">
                <a:solidFill>
                  <a:srgbClr val="4A5560"/>
                </a:solidFill>
                <a:latin typeface="Segoe UI"/>
              </a:rPr>
              <a:t>RNE 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75688" y="489204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0F8B8D"/>
                </a:solidFill>
                <a:latin typeface="Segoe UI"/>
              </a:rPr>
              <a:t>0.19 s</a:t>
            </a:r>
          </a:p>
          <a:p>
            <a:pPr algn="ctr"/>
            <a:r>
              <a:rPr sz="1100" b="0" i="0">
                <a:solidFill>
                  <a:srgbClr val="4A5560"/>
                </a:solidFill>
                <a:latin typeface="Segoe UI"/>
              </a:rPr>
              <a:t>FR checklist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94176" y="489204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0F8B8D"/>
                </a:solidFill>
                <a:latin typeface="Segoe UI"/>
              </a:rPr>
              <a:t>0.25 s</a:t>
            </a:r>
          </a:p>
          <a:p>
            <a:pPr algn="ctr"/>
            <a:r>
              <a:rPr sz="1100" b="0" i="0">
                <a:solidFill>
                  <a:srgbClr val="4A5560"/>
                </a:solidFill>
                <a:latin typeface="Segoe UI"/>
              </a:rPr>
              <a:t>Legal article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12664" y="489204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0F8B8D"/>
                </a:solidFill>
                <a:latin typeface="Segoe UI"/>
              </a:rPr>
              <a:t>0.16 s</a:t>
            </a:r>
          </a:p>
          <a:p>
            <a:pPr algn="ctr"/>
            <a:r>
              <a:rPr sz="1100" b="0" i="0">
                <a:solidFill>
                  <a:srgbClr val="4A5560"/>
                </a:solidFill>
                <a:latin typeface="Segoe UI"/>
              </a:rPr>
              <a:t>PDF form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31152" y="489204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0F8B8D"/>
                </a:solidFill>
                <a:latin typeface="Segoe UI"/>
              </a:rPr>
              <a:t>1.72 s</a:t>
            </a:r>
          </a:p>
          <a:p>
            <a:pPr algn="ctr"/>
            <a:r>
              <a:rPr sz="1100" b="0" i="0">
                <a:solidFill>
                  <a:srgbClr val="4A5560"/>
                </a:solidFill>
                <a:latin typeface="Segoe UI"/>
              </a:rPr>
              <a:t>Image OCR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489204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E8A33D"/>
                </a:solidFill>
                <a:latin typeface="Segoe UI"/>
              </a:rPr>
              <a:t>17.5 s</a:t>
            </a:r>
          </a:p>
          <a:p>
            <a:pPr algn="ctr"/>
            <a:r>
              <a:rPr sz="1100" b="0" i="0">
                <a:solidFill>
                  <a:srgbClr val="4A5560"/>
                </a:solidFill>
                <a:latin typeface="Segoe UI"/>
              </a:rPr>
              <a:t>EN checklist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68128" y="489204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E8A33D"/>
                </a:solidFill>
                <a:latin typeface="Segoe UI"/>
              </a:rPr>
              <a:t>20–70 s</a:t>
            </a:r>
          </a:p>
          <a:p>
            <a:pPr algn="ctr"/>
            <a:r>
              <a:rPr sz="1100" b="0" i="0">
                <a:solidFill>
                  <a:srgbClr val="4A5560"/>
                </a:solidFill>
                <a:latin typeface="Segoe UI"/>
              </a:rPr>
              <a:t>LLM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workflows/03_assistant_multi_agent.json; report §7 latency (final candidate)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3 ·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Prompt library: versioned and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A5560"/>
                </a:solidFill>
                <a:latin typeface="Segoe UI"/>
              </a:rPr>
              <a:t>Language models are used only where rules cannot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91640"/>
          <a:ext cx="112928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8840"/>
                <a:gridCol w="3291840"/>
                <a:gridCol w="1005840"/>
                <a:gridCol w="1371600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Prompt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Role (model)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Versions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Output validated in code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A5560"/>
                          </a:solidFill>
                          <a:latin typeface="Segoe UI"/>
                        </a:rPr>
                        <a:t>intent_router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Fallback classifier (Mistral 7B)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JSON; enums checked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A5560"/>
                          </a:solidFill>
                          <a:latin typeface="Segoe UI"/>
                        </a:rPr>
                        <a:t>grounded_answer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Answer from numbered passages (Mistral)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v1 · v2 · v3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[n] citations exist; numbers in cited text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A5560"/>
                          </a:solidFill>
                          <a:latin typeface="Segoe UI"/>
                        </a:rPr>
                        <a:t>dialogue_understanding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User-declared facts (Mistral)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v1 · v2 · v3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JSON schema; evidence = exact substring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A5560"/>
                          </a:solidFill>
                          <a:latin typeface="Segoe UI"/>
                        </a:rPr>
                        <a:t>translate_items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FR→EN checklist lines (TranslateGemma 4B)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same numbered lines and numbers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A5560"/>
                          </a:solidFill>
                          <a:latin typeface="Segoe UI"/>
                        </a:rPr>
                        <a:t>evidence_topic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Topic consistency (Mistral)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v1 (off)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disabled: unstable verdicts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690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2305B"/>
                </a:solidFill>
                <a:latin typeface="Segoe UI"/>
              </a:rPr>
              <a:t>Techniques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2305B"/>
                </a:solidFill>
                <a:latin typeface="Segoe UI"/>
              </a:rPr>
              <a:t>Role prompting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443484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2305B"/>
                </a:solidFill>
                <a:latin typeface="Segoe UI"/>
              </a:rPr>
              <a:t>Grounding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443484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2305B"/>
                </a:solidFill>
                <a:latin typeface="Segoe UI"/>
              </a:rPr>
              <a:t>Citation format [n]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443484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2305B"/>
                </a:solidFill>
                <a:latin typeface="Segoe UI"/>
              </a:rPr>
              <a:t>Structured JSON / schema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8048" y="443484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2305B"/>
                </a:solidFill>
                <a:latin typeface="Segoe UI"/>
              </a:rPr>
              <a:t>Few-shot examples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37759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2305B"/>
                </a:solidFill>
                <a:latin typeface="Segoe UI"/>
              </a:rPr>
              <a:t>Untrusted-input framing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24912" y="4937759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2305B"/>
                </a:solidFill>
                <a:latin typeface="Segoe UI"/>
              </a:rPr>
              <a:t>Language variable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4937759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2305B"/>
                </a:solidFill>
                <a:latin typeface="Segoe UI"/>
              </a:rPr>
              <a:t>Length limits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4937759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2305B"/>
                </a:solidFill>
                <a:latin typeface="Segoe UI"/>
              </a:rPr>
              <a:t>temperature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1292840" cy="5486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1" i="0">
                <a:solidFill>
                  <a:srgbClr val="4A5560"/>
                </a:solidFill>
                <a:latin typeface="Segoe UI"/>
              </a:rPr>
              <a:t>Files: </a:t>
            </a:r>
            <a:r>
              <a:rPr sz="1200" b="0" i="0">
                <a:solidFill>
                  <a:srgbClr val="4A5560"/>
                </a:solidFill>
                <a:latin typeface="Segoe UI"/>
              </a:rPr>
              <a:t>prompts/&lt;name&gt;/&lt;version&gt;.yaml · registry selects the active version · every response records its prompt_ref · versions are never edited in 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prompts/registry.yaml; agents/llm.py; agents/prompts.py; report Annex 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3 ·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Before / after 1: grounded_answer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A5560"/>
                </a:solidFill>
                <a:latin typeface="Segoe UI"/>
              </a:rPr>
              <a:t>Stored versions v1, v2, v3 — v3 was measured and not adopted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532120" cy="1828800"/>
          </a:xfrm>
          <a:prstGeom prst="roundRect">
            <a:avLst>
              <a:gd name="adj" fmla="val 12000"/>
            </a:avLst>
          </a:prstGeom>
          <a:solidFill>
            <a:srgbClr val="F8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400" b="1" i="0">
                <a:solidFill>
                  <a:srgbClr val="B83A3A"/>
                </a:solidFill>
                <a:latin typeface="Segoe UI"/>
              </a:rPr>
              <a:t>BEFORE · v1</a:t>
            </a:r>
          </a:p>
          <a:p>
            <a:pPr algn="l"/>
            <a:r>
              <a:rPr sz="1200" b="0" i="0">
                <a:solidFill>
                  <a:srgbClr val="4A5560"/>
                </a:solidFill>
                <a:latin typeface="Consolas"/>
              </a:rPr>
              <a:t>num_predict: 600</a:t>
            </a:r>
          </a:p>
          <a:p>
            <a:pPr algn="l"/>
            <a:r>
              <a:rPr sz="1200" b="0" i="0">
                <a:solidFill>
                  <a:srgbClr val="4A5560"/>
                </a:solidFill>
                <a:latin typeface="Consolas"/>
              </a:rPr>
              <a:t>7. Be concise: at most 8 short sentences or bullet points.</a:t>
            </a:r>
          </a:p>
          <a:p>
            <a:pPr algn="l"/>
            <a:r>
              <a:rPr sz="1300" b="0" i="0">
                <a:solidFill>
                  <a:srgbClr val="4A5560"/>
                </a:solidFill>
                <a:latin typeface="Segoe UI"/>
              </a:rPr>
              <a:t>Problem: an Arabic answer was cut mid-sentence at 600 tokens; lists were summarised.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532120" cy="18288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400" b="1" i="0">
                <a:solidFill>
                  <a:srgbClr val="2E7D4F"/>
                </a:solidFill>
                <a:latin typeface="Segoe UI"/>
              </a:rPr>
              <a:t>AFTER · v2 (active)</a:t>
            </a:r>
          </a:p>
          <a:p>
            <a:pPr algn="l"/>
            <a:r>
              <a:rPr sz="1200" b="0" i="0">
                <a:solidFill>
                  <a:srgbClr val="4A5560"/>
                </a:solidFill>
                <a:latin typeface="Consolas"/>
              </a:rPr>
              <a:t>num_predict: 900</a:t>
            </a:r>
          </a:p>
          <a:p>
            <a:pPr algn="l"/>
            <a:r>
              <a:rPr sz="1200" b="0" i="0">
                <a:solidFill>
                  <a:srgbClr val="4A5560"/>
                </a:solidFill>
                <a:latin typeface="Consolas"/>
              </a:rPr>
              <a:t>7. ... When the passages contain a list (documents, conditions), reproduce the relevant list items faithfully instead of summarising.</a:t>
            </a:r>
          </a:p>
          <a:p>
            <a:pPr algn="l"/>
            <a:r>
              <a:rPr sz="1300" b="0" i="0">
                <a:solidFill>
                  <a:srgbClr val="4A5560"/>
                </a:solidFill>
                <a:latin typeface="Segoe UI"/>
              </a:rPr>
              <a:t>Technique: output-length budget + explicit list-fidelity constraint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749039"/>
          <a:ext cx="667512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328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Same 12 answer-routed dev questions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v2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v3 (run B)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Answer accepted by citation validation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0.667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0.750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0.750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Response language correct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Verified evidence span present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0.273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0.091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0.182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Median seconds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29.2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26.5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31.7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60920" y="3749039"/>
            <a:ext cx="4389120" cy="164592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1" i="0">
                <a:solidFill>
                  <a:srgbClr val="12305B"/>
                </a:solidFill>
                <a:latin typeface="Segoe UI"/>
              </a:rPr>
              <a:t>Same input R29 </a:t>
            </a:r>
            <a:r>
              <a:rPr sz="1200" b="0" i="0">
                <a:solidFill>
                  <a:srgbClr val="4A5560"/>
                </a:solidFill>
                <a:latin typeface="Segoe UI"/>
              </a:rPr>
              <a:t>“What shareholding threshold makes someone a beneficial owner?”</a:t>
            </a:r>
          </a:p>
          <a:p>
            <a:pPr algn="l"/>
            <a:r>
              <a:rPr sz="1200" b="0" i="0">
                <a:solidFill>
                  <a:srgbClr val="B83A3A"/>
                </a:solidFill>
                <a:latin typeface="Segoe UI"/>
              </a:rPr>
              <a:t>v1: LLM answer rejected → Arabic passage quoted to an English user</a:t>
            </a:r>
          </a:p>
          <a:p>
            <a:pPr algn="l"/>
            <a:r>
              <a:rPr sz="1200" b="0" i="0">
                <a:solidFill>
                  <a:srgbClr val="2E7D4F"/>
                </a:solidFill>
                <a:latin typeface="Segoe UI"/>
              </a:rPr>
              <a:t>v2: “...hold 20% or more of the capital...” [1, 2] — correct, 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prompts/grounded_answer/v1-v3.yaml; data/evaluation/agent_results_hybrid.json (v1,v2) and agent_results_prompt_v3.json (v2,v3)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3 ·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Before / after 2 and 3: intent router and dialogue extractor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532120" cy="13258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400" b="1" i="0">
                <a:solidFill>
                  <a:srgbClr val="12305B"/>
                </a:solidFill>
                <a:latin typeface="Segoe UI"/>
              </a:rPr>
              <a:t>intent_router: B0 → v1</a:t>
            </a:r>
          </a:p>
          <a:p>
            <a:pPr algn="l"/>
            <a:r>
              <a:rPr sz="1100" b="0" i="0">
                <a:solidFill>
                  <a:srgbClr val="4A5560"/>
                </a:solidFill>
                <a:latin typeface="Segoe UI"/>
              </a:rPr>
              <a:t>B0 (controlled baseline, written 2026-10-18 — not historical): same enums and JSON mode; no role, no Derja/Latin-script note, no category definitions.</a:t>
            </a:r>
          </a:p>
          <a:p>
            <a:pPr algn="l"/>
            <a:r>
              <a:rPr sz="1100" b="0" i="0">
                <a:solidFill>
                  <a:srgbClr val="4A5560"/>
                </a:solidFill>
                <a:latin typeface="Segoe UI"/>
              </a:rPr>
              <a:t>v1 adds: role · multilingual + Arabizi notice · definitions (RNE, CIN) · “do not answer”.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880360"/>
          <a:ext cx="5532120" cy="19751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180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84 dev questions, LLM only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B0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Category accuracy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0.714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0.881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Intent accuracy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0.619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0.655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Both correct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0.452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0.643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Valid enums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0.988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0.952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Median seconds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3.7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3.1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417320"/>
            <a:ext cx="5532120" cy="13258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400" b="1" i="0">
                <a:solidFill>
                  <a:srgbClr val="12305B"/>
                </a:solidFill>
                <a:latin typeface="Segoe UI"/>
              </a:rPr>
              <a:t>dialogue_understanding: v1 → v2 → v3</a:t>
            </a:r>
          </a:p>
          <a:p>
            <a:pPr algn="l"/>
            <a:r>
              <a:rPr sz="1100" b="0" i="0">
                <a:solidFill>
                  <a:srgbClr val="4A5560"/>
                </a:solidFill>
                <a:latin typeface="Segoe UI"/>
              </a:rPr>
              <a:t>v1: schema in prose, pipe-separated enum hints. v2: “default {items: []}”, two few-shot examples, “never write 'not provided'”.</a:t>
            </a:r>
          </a:p>
          <a:p>
            <a:pPr algn="l"/>
            <a:r>
              <a:rPr sz="1100" b="0" i="0">
                <a:solidFill>
                  <a:srgbClr val="4A5560"/>
                </a:solidFill>
                <a:latin typeface="Segoe UI"/>
              </a:rPr>
              <a:t>v3: same text + JSON response schema enforced by Ollama (constrained decoding).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2880360"/>
          <a:ext cx="5532120" cy="19751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8920"/>
                <a:gridCol w="9144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18 synthetic declarations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v2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v3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Schema-valid outputs (raw)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7/18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4/18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18/18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Invented application / residence (raw)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Item precision after code validation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0.818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Item recall after code validation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0.421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0.474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0.632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Median seconds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4.2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4.4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937760"/>
            <a:ext cx="112928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2305B"/>
                </a:solidFill>
                <a:latin typeface="Segoe UI"/>
              </a:rPr>
              <a:t>Reading: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v1's RNE definition fixed most 'general' errors (category +0.167); Derja intent did not improve and invalid enums rose slightly — the code rejects them. v2 removed 15 invented scenario facts; v3's schema made 18/18 outputs valid. Invented quantities are removed by code validation, not by the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data/evaluation/prompt_experiments/intent_router_results.json, dialogue_understanding_results.json (scripts/prompt_experiments.py)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3 ·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Before / after 4: translation — and the lesson we drew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532120" cy="14630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400" b="1" i="0">
                <a:solidFill>
                  <a:srgbClr val="12305B"/>
                </a:solidFill>
                <a:latin typeface="Segoe UI"/>
              </a:rPr>
              <a:t>translate_items: B0 → v1</a:t>
            </a:r>
          </a:p>
          <a:p>
            <a:pPr algn="l"/>
            <a:r>
              <a:rPr sz="1100" b="0" i="0">
                <a:solidFill>
                  <a:srgbClr val="4A5560"/>
                </a:solidFill>
                <a:latin typeface="Consolas"/>
              </a:rPr>
              <a:t>B0 (controlled baseline): “Translate this text from French into English.”</a:t>
            </a:r>
          </a:p>
          <a:p>
            <a:pPr algn="l"/>
            <a:r>
              <a:rPr sz="1100" b="0" i="0">
                <a:solidFill>
                  <a:srgbClr val="4A5560"/>
                </a:solidFill>
                <a:latin typeface="Consolas"/>
              </a:rPr>
              <a:t>v1: “...one line per item, keeping exactly the same numbering. Keep all numbers, amounts and measurements exactly as they are.”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017520"/>
          <a:ext cx="5532120" cy="13898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3756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11 official FR checklist scenarios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B0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Same numbered structure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10/11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10/11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Accepted by production validator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4/11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10/11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Median seconds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17.0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15.9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417320"/>
            <a:ext cx="5532120" cy="1463040"/>
          </a:xfrm>
          <a:prstGeom prst="roundRect">
            <a:avLst>
              <a:gd name="adj" fmla="val 12000"/>
            </a:avLst>
          </a:prstGeom>
          <a:solidFill>
            <a:srgbClr val="F8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400" b="1" i="0">
                <a:solidFill>
                  <a:srgbClr val="B83A3A"/>
                </a:solidFill>
                <a:latin typeface="Segoe UI"/>
              </a:rPr>
              <a:t>Withdrawn, not re-prompted: FR → AR</a:t>
            </a:r>
          </a:p>
          <a:p>
            <a:pPr algn="l"/>
            <a:r>
              <a:rPr sz="1200" b="0" i="0">
                <a:solidFill>
                  <a:srgbClr val="4A5560"/>
                </a:solidFill>
                <a:latin typeface="Segoe UI"/>
              </a:rPr>
              <a:t>“veuve” (widow) → “العوراء” (one-eyed woman); “timbre” → “الطوابق” (floors). Both passed format validation.</a:t>
            </a:r>
          </a:p>
          <a:p>
            <a:pPr algn="l"/>
            <a:r>
              <a:rPr sz="1200" b="0" i="0">
                <a:solidFill>
                  <a:srgbClr val="4A5560"/>
                </a:solidFill>
                <a:latin typeface="Segoe UI"/>
              </a:rPr>
              <a:t>Decision: Arabic and Derja users receive the official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532120" cy="141732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400" b="1" i="0">
                <a:solidFill>
                  <a:srgbClr val="2E7D4F"/>
                </a:solidFill>
                <a:latin typeface="Segoe UI"/>
              </a:rPr>
              <a:t>Lesson</a:t>
            </a:r>
          </a:p>
          <a:p>
            <a:pPr algn="l"/>
            <a:r>
              <a:rPr sz="1200" b="0" i="0">
                <a:solidFill>
                  <a:srgbClr val="4A5560"/>
                </a:solidFill>
                <a:latin typeface="Segoe UI"/>
              </a:rPr>
              <a:t>No prompt version made a 7B model paraphrase law reliably (Law 2018-52 Art. 16 was fabricated behind a valid citation). Fix was architectural: legal articles and table rows are now extracted verbatim, not generated.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663440"/>
          <a:ext cx="11292840" cy="1152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219456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Compliance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intent_router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grounded_answer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dialogue_und.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translate_items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Before version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B0 (labelled baseline)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v1 (historical)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v1 (historical)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B0 (labelled baseline)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Documented failure / test / outputs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yes / 84 dev / JSON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yes / 12 dev / JSON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yes / 18 synth. / JSON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yes / 11 official / JSON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prompt_experiments/translate_items_results.json; docs/PROMPT_ENGINEERING.md; report §7; presentation/PROMPT_ENGINEERING_EVIDENCE.md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4 · 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Official corpus: 12 documents, provenance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73152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/>
                <a:gridCol w="420624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Publisher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Indexed documents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Language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Ministry of the Interior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Passport guide (FR), passport guide (AR), national ID guide (FR)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FR · 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RNE (registre-entreprises.tn)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Formalities table (95 procedures), forms F-001 and F-002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FR · FR/AR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Legal texts via RNE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Law 2018-52 (AR), Decree 2022-298 fees (FR), Decree-law 2022-18 (FR)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AR · FR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Legal texts via RNE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Decrees 2019 (beneficial owners, name reservation, AR), Order of 13 Jan 2026 (FR)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AR · FR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92440" y="1463040"/>
            <a:ext cx="3657600" cy="548640"/>
          </a:xfrm>
          <a:prstGeom prst="roundRect">
            <a:avLst>
              <a:gd name="adj" fmla="val 12000"/>
            </a:avLst>
          </a:prstGeom>
          <a:solidFill>
            <a:srgbClr val="12305B"/>
          </a:solidFill>
          <a:ln w="15875">
            <a:solidFill>
              <a:srgbClr val="123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18 candidate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176272"/>
            <a:ext cx="3657600" cy="54864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robots.txt + AI opt-out + TLS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921240" y="2011679"/>
            <a:ext cx="0" cy="164593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92440" y="2889504"/>
            <a:ext cx="3657600" cy="54864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original + SHA-256 manifest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21240" y="2724912"/>
            <a:ext cx="0" cy="164592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3602736"/>
            <a:ext cx="3657600" cy="54864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typed text blocks (PyMuPDF / HTML)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21240" y="3438144"/>
            <a:ext cx="0" cy="164592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4315968"/>
            <a:ext cx="3657600" cy="54864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two chunkers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21240" y="4151376"/>
            <a:ext cx="0" cy="164592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406908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42232"/>
            <a:ext cx="2157984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F8B8D"/>
                </a:solidFill>
                <a:latin typeface="Segoe UI"/>
              </a:rPr>
              <a:t>272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54880"/>
            <a:ext cx="21579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560"/>
                </a:solidFill>
                <a:latin typeface="Segoe UI"/>
              </a:rPr>
              <a:t>structure-aware chunks (≤1200 chars)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406908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528" y="4142232"/>
            <a:ext cx="2157984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2305B"/>
                </a:solidFill>
                <a:latin typeface="Segoe UI"/>
              </a:rPr>
              <a:t>174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8" y="4754880"/>
            <a:ext cx="21579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560"/>
                </a:solidFill>
                <a:latin typeface="Segoe UI"/>
              </a:rPr>
              <a:t>recursive chunks (1000 chars, 150 overlap)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4069080"/>
            <a:ext cx="2286000" cy="12344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4142232"/>
            <a:ext cx="2066543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E8A33D"/>
                </a:solidFill>
                <a:latin typeface="Segoe UI"/>
              </a:rPr>
              <a:t>1024-d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4754880"/>
            <a:ext cx="2066543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560"/>
                </a:solidFill>
                <a:latin typeface="Segoe UI"/>
              </a:rPr>
              <a:t>BGE-M3 embeddings, cosine (Qdrant)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5120640"/>
            <a:ext cx="3657600" cy="868680"/>
          </a:xfrm>
          <a:prstGeom prst="roundRect">
            <a:avLst>
              <a:gd name="adj" fmla="val 12000"/>
            </a:avLst>
          </a:prstGeom>
          <a:solidFill>
            <a:srgbClr val="F8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4A5560"/>
                </a:solidFill>
                <a:latin typeface="Segoe UI"/>
              </a:rPr>
              <a:t>Excluded with a recorded reason: birth certificate and passport-form pages (robots), one scanned decree without text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data/raw/manifest.json; config/sources.yaml; rag/chunking.py; Qdrant collection info (read-only, 2026-10-18)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4 · 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Retrieval: hybrid fusion, exact keys, and a per-document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Question + route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category, intent, code?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50876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>Dense: raw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28600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>Dense: expanded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06324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>BM25 + term normalisation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10312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Reciprocal rank fusion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k = 60, category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10312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≤ 2 chunks per document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in the top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4114800"/>
            <a:ext cx="5029200" cy="777240"/>
          </a:xfrm>
          <a:prstGeom prst="roundRect">
            <a:avLst>
              <a:gd name="adj" fmla="val 12000"/>
            </a:avLst>
          </a:prstGeom>
          <a:solidFill>
            <a:srgbClr val="FCF0DC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1" i="0">
                <a:solidFill>
                  <a:srgbClr val="4A5560"/>
                </a:solidFill>
                <a:latin typeface="Segoe UI"/>
              </a:rPr>
              <a:t>RNE code in the question → </a:t>
            </a:r>
            <a:r>
              <a:rPr sz="1200" b="0" i="0">
                <a:solidFill>
                  <a:srgbClr val="4A5560"/>
                </a:solidFill>
                <a:latin typeface="Segoe UI"/>
              </a:rPr>
              <a:t>exact payload scroll: the table row by key (a code is a key, not a meaning)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560320" y="1828800"/>
            <a:ext cx="457200" cy="54864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2377440"/>
            <a:ext cx="457200" cy="27432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60320" y="2377440"/>
            <a:ext cx="457200" cy="100584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94960" y="1828800"/>
            <a:ext cx="457200" cy="73152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94960" y="2651760"/>
            <a:ext cx="45720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394960" y="2743200"/>
            <a:ext cx="457200" cy="64008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2651760"/>
            <a:ext cx="45720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08760" y="2834640"/>
            <a:ext cx="1508760" cy="164592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03920" y="3383280"/>
            <a:ext cx="324612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200" b="0" i="0">
                <a:solidFill>
                  <a:srgbClr val="4A5560"/>
                </a:solidFill>
                <a:latin typeface="Segoe UI"/>
              </a:rPr>
              <a:t>Retrieval only finds the document and section;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200" b="0" i="0">
                <a:solidFill>
                  <a:srgbClr val="4A5560"/>
                </a:solidFill>
                <a:latin typeface="Segoe UI"/>
              </a:rPr>
              <a:t>agents then read complete official units (section, row, article).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200" b="0" i="0">
                <a:solidFill>
                  <a:srgbClr val="4A5560"/>
                </a:solidFill>
                <a:latin typeface="Segoe UI"/>
              </a:rPr>
              <a:t>Citations are copied from the payload, never generated.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66360"/>
            <a:ext cx="11292840" cy="73152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4A5560"/>
                </a:solidFill>
                <a:latin typeface="Segoe UI"/>
              </a:rPr>
              <a:t>Arabizi word map and company-type normalisation feed BM25 (e.g. charika → شركة, “public limited company” → Société anonyme). No neural reranker (4 GB GPU).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rag/hybrid.py; agents/retriever.py; backend/settings.py (retrieval_mode=hybrid); report §4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4 · 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Retrieval evaluation on verified evidence spans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A5560"/>
                </a:solidFill>
                <a:latin typeface="Segoe UI"/>
              </a:rPr>
              <a:t>71 labelled dev questions, k = 5; relevance = the official span occurs in the chunk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13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691640"/>
          <a:ext cx="67665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79" y="1691640"/>
          <a:ext cx="4251960" cy="1042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5960"/>
                <a:gridCol w="1143000"/>
                <a:gridCol w="11430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Chunking (Hit@5)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Dense raw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Hybrid + cap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Structure-aware (272)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0.732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0.873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Recursive (174)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0.817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0.775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98079" y="2880360"/>
            <a:ext cx="425196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200" b="0" i="0">
                <a:solidFill>
                  <a:srgbClr val="4A5560"/>
                </a:solidFill>
                <a:latin typeface="Segoe UI"/>
              </a:rPr>
              <a:t>Ranking reverses: recursive wins dense, structure wins hybrid (one table row = one chunk).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200" b="0" i="0">
                <a:solidFill>
                  <a:srgbClr val="4A5560"/>
                </a:solidFill>
                <a:latin typeface="Segoe UI"/>
              </a:rPr>
              <a:t>Held-out (20): hybrid ties dense at Hit@5 0.750; MRR@5 0.531 vs 0.635 — part of the dev gain was overfitting.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200" b="0" i="0">
                <a:solidFill>
                  <a:srgbClr val="4A5560"/>
                </a:solidFill>
                <a:latin typeface="Segoe UI"/>
              </a:rPr>
              <a:t>Latin-script Derja: 0.000 → 0.714 Hit@5 (parallel subset).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retrieval_results_improved.json; docs/EVALUATION.md §2, §6; re-run read-only on 2026-10-18: identical Hit@5/MRR@5 for all 4 configurations (retrieval_results_reproduce_20261018.json)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5 · 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Orchestrated multi-agent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A5560"/>
                </a:solidFill>
                <a:latin typeface="Segoe UI"/>
              </a:rPr>
              <a:t>Specialised agents coordinated by n8n — no agent plans or chooses tools at run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91640"/>
          <a:ext cx="7863840" cy="30723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40"/>
                <a:gridCol w="329184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Decision it owns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LLM use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n8n workflow 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Branch on file, mode, next_agent; error replies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2305B"/>
                          </a:solidFill>
                          <a:latin typeface="Segoe UI"/>
                        </a:rPr>
                        <a:t>Orchestrator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Intent Router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Language, procedure, intent, clarification, dialogue state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8B8D"/>
                          </a:solidFill>
                          <a:latin typeface="Segoe UI"/>
                        </a:rPr>
                        <a:t>Agent (rule-first)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E8A33D"/>
                          </a:solidFill>
                          <a:latin typeface="Segoe UI"/>
                        </a:rPr>
                        <a:t>fallback only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RAG Retriever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Which passages are evidence (fusion, exact key)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8B8D"/>
                          </a:solidFill>
                          <a:latin typeface="Segoe UI"/>
                        </a:rPr>
                        <a:t>Deterministic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embeddings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Checklist Builder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Official scenario and sections quoted verbatim; FR/AR conflicts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8B8D"/>
                          </a:solidFill>
                          <a:latin typeface="Segoe UI"/>
                        </a:rPr>
                        <a:t>Deterministic + LLM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E8A33D"/>
                          </a:solidFill>
                          <a:latin typeface="Segoe UI"/>
                        </a:rPr>
                        <a:t>FR→EN translation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Grounded Answer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Extract article/row, generate, or refuse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E8A33D"/>
                          </a:solidFill>
                          <a:latin typeface="Segoe UI"/>
                        </a:rPr>
                        <a:t>Agent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E8A33D"/>
                          </a:solidFill>
                          <a:latin typeface="Segoe UI"/>
                        </a:rPr>
                        <a:t>Mistral 7B + verifiers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Form-Filling Helper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Form identity, field statuses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8B8D"/>
                          </a:solidFill>
                          <a:latin typeface="Segoe UI"/>
                        </a:rPr>
                        <a:t>Deterministic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none (OCR)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Dossier Validator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Readiness report; composes 3 agents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8B8D"/>
                          </a:solidFill>
                          <a:latin typeface="Segoe UI"/>
                        </a:rPr>
                        <a:t>Deterministic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95360" y="1463040"/>
            <a:ext cx="3154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305B"/>
                </a:solidFill>
                <a:latin typeface="Segoe UI"/>
              </a:rPr>
              <a:t>Why separate agents?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874519"/>
            <a:ext cx="315468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Lists must be complete and verbatim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Procedure codes are keys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Legal text must not be paraphrased by a 7B model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Forms need geometry and OCR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Readiness is never certified by a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92040"/>
            <a:ext cx="11292840" cy="1097280"/>
          </a:xfrm>
          <a:prstGeom prst="roundRect">
            <a:avLst>
              <a:gd name="adj" fmla="val 12000"/>
            </a:avLst>
          </a:prstGeom>
          <a:solidFill>
            <a:srgbClr val="F8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B83A3A"/>
                </a:solidFill>
                <a:latin typeface="Segoe UI"/>
              </a:rPr>
              <a:t>Evidence of the cost of one generic path: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before the dedicated paths, all 190 RNE follow-ups returned only links, and the official legal passage appeared in 1 of 30 legal answers. After: 190/190 and 26/30 on the same 728 replayed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backend/agents_api.py; agents/*.py; report Table 1 and Table 7 (final_regression.tex)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6 · Multimodality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Multimodality: official forms as PDF, scan or photo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5875">
            <a:solidFill>
              <a:srgbClr val="4A5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Upload</a:t>
            </a:r>
          </a:p>
          <a:p>
            <a:pPr algn="ctr"/>
            <a:r>
              <a:rPr sz="1000" b="0" i="0">
                <a:solidFill>
                  <a:srgbClr val="4A5560"/>
                </a:solidFill>
                <a:latin typeface="Segoe UI"/>
              </a:rPr>
              <a:t>type, signature, ≤10 MB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50876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Text layer?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PDF geometry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1984248"/>
            <a:ext cx="18288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97680" y="150876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Deskew + OCR</a:t>
            </a:r>
          </a:p>
          <a:p>
            <a:pPr algn="ctr"/>
            <a:r>
              <a:rPr sz="1000" b="0" i="0">
                <a:solidFill>
                  <a:srgbClr val="4A5560"/>
                </a:solidFill>
                <a:latin typeface="Segoe UI"/>
              </a:rPr>
              <a:t>Tesseract ara+fra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1984248"/>
            <a:ext cx="18288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150876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RANSAC homography</a:t>
            </a:r>
          </a:p>
          <a:p>
            <a:pPr algn="ctr"/>
            <a:r>
              <a:rPr sz="1000" b="0" i="0">
                <a:solidFill>
                  <a:srgbClr val="4A5560"/>
                </a:solidFill>
                <a:latin typeface="Segoe UI"/>
              </a:rPr>
              <a:t>anchor words → blank form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1984248"/>
            <a:ext cx="18288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150876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Ink per field</a:t>
            </a:r>
          </a:p>
          <a:p>
            <a:pPr algn="ctr"/>
            <a:r>
              <a:rPr sz="1000" b="0" i="0">
                <a:solidFill>
                  <a:srgbClr val="4A5560"/>
                </a:solidFill>
                <a:latin typeface="Segoe UI"/>
              </a:rPr>
              <a:t>vs blank template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80" y="1984248"/>
            <a:ext cx="18288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0" y="150876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Statuses</a:t>
            </a:r>
          </a:p>
          <a:p>
            <a:pPr algn="ctr"/>
            <a:r>
              <a:rPr sz="1000" b="0" i="0">
                <a:solidFill>
                  <a:srgbClr val="4A5560"/>
                </a:solidFill>
                <a:latin typeface="Segoe UI"/>
              </a:rPr>
              <a:t>filled / empty / unreadable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20" y="1984248"/>
            <a:ext cx="182880" cy="0"/>
          </a:xfrm>
          <a:prstGeom prst="line">
            <a:avLst/>
          </a:prstGeom>
          <a:ln w="1905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2697480"/>
          <a:ext cx="7589520" cy="2962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6240"/>
                <a:gridCol w="1005840"/>
                <a:gridCol w="1783080"/>
                <a:gridCol w="5943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Case (fixtures derived from official blank forms)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Official blank F-001 (PDF)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text_layer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0 filled / 7 fields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0.08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Official blank F-002 (PDF)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text_layer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0 filled / 8 fields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0.06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F-002 with 5 fields filled ('placeholder', synthetic)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text_layer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5 filled / 8 fields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0.08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F-001 with 3 filled fields rendered to PNG (200 dpi)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ocr_ink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3 filled / 7 fields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2.27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F-001 with 3 filled fields rendered to JPEG, rotated 3 degrees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ocr_ink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3 filled / 7 fields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2.44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Corrupt PDF (first 5 KB of F-001)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ocr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not recognised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0.02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Unsupported type (text/plain)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unsupported file type text/plain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Oversized upload (11 MB of zeros declared as PNG)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file larger than 10 MB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5560"/>
                          </a:solidFill>
                          <a:latin typeface="Segoe UI"/>
                        </a:rPr>
                        <a:t>0.22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321040" y="269748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2770632"/>
            <a:ext cx="3209544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E7D4F"/>
                </a:solidFill>
                <a:latin typeface="Segoe UI"/>
              </a:rPr>
              <a:t>13/13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3383280"/>
            <a:ext cx="320954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560"/>
                </a:solidFill>
                <a:latin typeface="Segoe UI"/>
              </a:rPr>
              <a:t>multimodal cases behave as expected (candidate backend, 2026-10-18)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02336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300" b="1" i="0">
                <a:solidFill>
                  <a:srgbClr val="12305B"/>
                </a:solidFill>
                <a:latin typeface="Segoe UI"/>
              </a:rPr>
              <a:t>Dossier Validator</a:t>
            </a:r>
          </a:p>
          <a:p>
            <a:pPr algn="l"/>
            <a:r>
              <a:rPr sz="1200" b="0" i="0">
                <a:solidFill>
                  <a:srgbClr val="4A5560"/>
                </a:solidFill>
                <a:latin typeface="Segoe UI"/>
              </a:rPr>
              <a:t>Keeps apart: field status · official requirements quoted verbatim · completeness, which is never certified (no official RNE list exists).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agents/form_helper.py; agents/dossier_validator.py; data/evaluation/multimodal_eval_results.json (scripts/multimodal_eval.py). Filled text = neutral word 'placeholder'.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7 · Live Demonstration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A5560"/>
                </a:solidFill>
                <a:latin typeface="Segoe UI"/>
              </a:rPr>
              <a:t>Four interactions chosen for fast, deterministic paths (≈ 90 s in total)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548640" cy="731520"/>
          </a:xfrm>
          <a:prstGeom prst="roundRect">
            <a:avLst>
              <a:gd name="adj" fmla="val 12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783080"/>
            <a:ext cx="868680" cy="73152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FR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1783080"/>
            <a:ext cx="4343400" cy="73152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 i="0">
                <a:solidFill>
                  <a:srgbClr val="4A5560"/>
                </a:solidFill>
                <a:latin typeface="Consolas"/>
              </a:rPr>
              <a:t>Quels documents pour renouveler mon passeport ? J'habite en Tunisie.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783080"/>
            <a:ext cx="4069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C9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 i="0">
                <a:solidFill>
                  <a:srgbClr val="4A5560"/>
                </a:solidFill>
                <a:latin typeface="Segoe UI"/>
              </a:rPr>
              <a:t>Checklist Builder · verbatim official list +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52760" y="1783080"/>
            <a:ext cx="1097280" cy="73152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E7D4F"/>
                </a:solidFill>
                <a:latin typeface="Segoe UI"/>
              </a:rPr>
              <a:t>≈ 0.2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15768"/>
            <a:ext cx="548640" cy="731520"/>
          </a:xfrm>
          <a:prstGeom prst="roundRect">
            <a:avLst>
              <a:gd name="adj" fmla="val 12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715768"/>
            <a:ext cx="868680" cy="73152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FR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2715768"/>
            <a:ext cx="4343400" cy="73152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 i="0">
                <a:solidFill>
                  <a:srgbClr val="4A5560"/>
                </a:solidFill>
                <a:latin typeface="Consolas"/>
              </a:rPr>
              <a:t>Et combien ça coûte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715768"/>
            <a:ext cx="4069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C9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 i="0">
                <a:solidFill>
                  <a:srgbClr val="4A5560"/>
                </a:solidFill>
                <a:latin typeface="Segoe UI"/>
              </a:rPr>
              <a:t>Follow-up keeps context · fee section (timbre) + FR/AR conflict note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52760" y="2715768"/>
            <a:ext cx="1097280" cy="73152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E7D4F"/>
                </a:solidFill>
                <a:latin typeface="Segoe UI"/>
              </a:rPr>
              <a:t>≈ 0.2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48456"/>
            <a:ext cx="548640" cy="731520"/>
          </a:xfrm>
          <a:prstGeom prst="roundRect">
            <a:avLst>
              <a:gd name="adj" fmla="val 12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648456"/>
            <a:ext cx="868680" cy="73152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Derja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7400" y="3648456"/>
            <a:ext cx="4343400" cy="73152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 i="0">
                <a:solidFill>
                  <a:srgbClr val="4A5560"/>
                </a:solidFill>
                <a:latin typeface="Consolas"/>
              </a:rPr>
              <a:t>9adech el ma3loum mta3 RNE C 012?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648456"/>
            <a:ext cx="4069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C9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 i="0">
                <a:solidFill>
                  <a:srgbClr val="4A5560"/>
                </a:solidFill>
                <a:latin typeface="Segoe UI"/>
              </a:rPr>
              <a:t>Exact official RNE row by key · Arabic header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52760" y="3648456"/>
            <a:ext cx="1097280" cy="73152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E7D4F"/>
                </a:solidFill>
                <a:latin typeface="Segoe UI"/>
              </a:rPr>
              <a:t>&lt; 1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81144"/>
            <a:ext cx="548640" cy="731520"/>
          </a:xfrm>
          <a:prstGeom prst="roundRect">
            <a:avLst>
              <a:gd name="adj" fmla="val 12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581144"/>
            <a:ext cx="868680" cy="731520"/>
          </a:xfrm>
          <a:prstGeom prst="roundRect">
            <a:avLst>
              <a:gd name="adj" fmla="val 12000"/>
            </a:avLst>
          </a:prstGeom>
          <a:solidFill>
            <a:srgbClr val="DFF1F1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2305B"/>
                </a:solidFill>
                <a:latin typeface="Segoe UI"/>
              </a:rPr>
              <a:t>Photo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4581144"/>
            <a:ext cx="4343400" cy="73152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 i="0">
                <a:solidFill>
                  <a:srgbClr val="4A5560"/>
                </a:solidFill>
                <a:latin typeface="Consolas"/>
              </a:rPr>
              <a:t>/form_check + photo of blank F-001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581144"/>
            <a:ext cx="4069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C9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 i="0">
                <a:solidFill>
                  <a:srgbClr val="4A5560"/>
                </a:solidFill>
                <a:latin typeface="Segoe UI"/>
              </a:rPr>
              <a:t>OCR + homography · 7 fields reported empty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52760" y="4581144"/>
            <a:ext cx="1097280" cy="73152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E7D4F"/>
                </a:solidFill>
                <a:latin typeface="Segoe UI"/>
              </a:rPr>
              <a:t>≈ 2.5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32120"/>
            <a:ext cx="11292840" cy="548640"/>
          </a:xfrm>
          <a:prstGeom prst="roundRect">
            <a:avLst>
              <a:gd name="adj" fmla="val 12000"/>
            </a:avLst>
          </a:prstGeom>
          <a:solidFill>
            <a:srgbClr val="FC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1" i="0">
                <a:solidFill>
                  <a:srgbClr val="E8A33D"/>
                </a:solidFill>
                <a:latin typeface="Segoe UI"/>
              </a:rPr>
              <a:t>Fallback: </a:t>
            </a:r>
            <a:r>
              <a:rPr sz="1200" b="0" i="0">
                <a:solidFill>
                  <a:srgbClr val="4A5560"/>
                </a:solidFill>
                <a:latin typeface="Segoe UI"/>
              </a:rPr>
              <a:t>if the live bot is slow, show the recorded results in data/evaluation/rc_20261018b_multilingual_results.json and the n8n execution view. Grounded LLM answers (20–70 s) are shown from recordings only.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presentation/LIVE_DEMO_SCRIPT.md; latencies from report §7 and data/evaluation/rc_20261018b_multilingual_results.json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7 · Live Demonstration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Evaluation: what the end-to-end audit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A5560"/>
                </a:solidFill>
                <a:latin typeface="Segoe UI"/>
              </a:rPr>
              <a:t>Same 728 audit cases replayed through n8n: original production vs final candidate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2697480" cy="196596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10512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before → 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21408"/>
            <a:ext cx="25146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B83A3A"/>
                </a:solidFill>
                <a:latin typeface="Segoe UI"/>
              </a:rPr>
              <a:t>0/190</a:t>
            </a:r>
            <a:r>
              <a:rPr sz="2400" b="1" i="0">
                <a:solidFill>
                  <a:srgbClr val="8C99A6"/>
                </a:solidFill>
                <a:latin typeface="Segoe UI"/>
              </a:rPr>
              <a:t>  →  </a:t>
            </a:r>
            <a:r>
              <a:rPr sz="2400" b="1" i="0">
                <a:solidFill>
                  <a:srgbClr val="2E7D4F"/>
                </a:solidFill>
                <a:latin typeface="Segoe UI"/>
              </a:rPr>
              <a:t>190/190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80360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560"/>
                </a:solidFill>
                <a:latin typeface="Segoe UI"/>
              </a:rPr>
              <a:t>RNE fee/deadline with chat context: exact 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737360"/>
            <a:ext cx="2697480" cy="196596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810512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before → 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121408"/>
            <a:ext cx="25146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B83A3A"/>
                </a:solidFill>
                <a:latin typeface="Segoe UI"/>
              </a:rPr>
              <a:t>281/480</a:t>
            </a:r>
            <a:r>
              <a:rPr sz="2400" b="1" i="0">
                <a:solidFill>
                  <a:srgbClr val="8C99A6"/>
                </a:solidFill>
                <a:latin typeface="Segoe UI"/>
              </a:rPr>
              <a:t>  →  </a:t>
            </a:r>
            <a:r>
              <a:rPr sz="2400" b="1" i="0">
                <a:solidFill>
                  <a:srgbClr val="2E7D4F"/>
                </a:solidFill>
                <a:latin typeface="Segoe UI"/>
              </a:rPr>
              <a:t>480/480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880360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560"/>
                </a:solidFill>
                <a:latin typeface="Segoe UI"/>
              </a:rPr>
              <a:t>Targeted official facts present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737360"/>
            <a:ext cx="2697480" cy="196596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1810512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before → 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121408"/>
            <a:ext cx="25146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B83A3A"/>
                </a:solidFill>
                <a:latin typeface="Segoe UI"/>
              </a:rPr>
              <a:t>1/30</a:t>
            </a:r>
            <a:r>
              <a:rPr sz="2400" b="1" i="0">
                <a:solidFill>
                  <a:srgbClr val="8C99A6"/>
                </a:solidFill>
                <a:latin typeface="Segoe UI"/>
              </a:rPr>
              <a:t>  →  </a:t>
            </a:r>
            <a:r>
              <a:rPr sz="2400" b="1" i="0">
                <a:solidFill>
                  <a:srgbClr val="2E7D4F"/>
                </a:solidFill>
                <a:latin typeface="Segoe UI"/>
              </a:rPr>
              <a:t>26/30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880360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560"/>
                </a:solidFill>
                <a:latin typeface="Segoe UI"/>
              </a:rPr>
              <a:t>Legal answers containing the official passage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737360"/>
            <a:ext cx="2697480" cy="196596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4A5560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1810512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before → 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121408"/>
            <a:ext cx="25146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B83A3A"/>
                </a:solidFill>
                <a:latin typeface="Segoe UI"/>
              </a:rPr>
              <a:t>0/10</a:t>
            </a:r>
            <a:r>
              <a:rPr sz="2400" b="1" i="0">
                <a:solidFill>
                  <a:srgbClr val="8C99A6"/>
                </a:solidFill>
                <a:latin typeface="Segoe UI"/>
              </a:rPr>
              <a:t>  →  </a:t>
            </a:r>
            <a:r>
              <a:rPr sz="2400" b="1" i="0">
                <a:solidFill>
                  <a:srgbClr val="2E7D4F"/>
                </a:solidFill>
                <a:latin typeface="Segoe UI"/>
              </a:rPr>
              <a:t>10/10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880360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560"/>
                </a:solidFill>
                <a:latin typeface="Segoe UI"/>
              </a:rPr>
              <a:t>Form-instruction answers with the official passage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3840480"/>
          <a:ext cx="11292840" cy="2240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0"/>
                <a:gridCol w="306324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Check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Fabricated legal provision (Law 2018-52 Art. 16)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yes → 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Citation URLs found in the official manifest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1547/1547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Release candidate rc-20261018b, same 728 cases: all 17 replay metrics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identical to final candidate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Multilingual parallel subset, 36 questions (rc-20261018b): 18 evidence, 4 correct refusals, 14 clarification questions, 0 failures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 failures (36/36 as designed)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Behaviour cases: clarification, follow-up, RNE codes, out-of-scope, carte grise, injection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13/13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Unit and regression tests (no services needed)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1097 passed, 5 skipped; integration 37/37 on the rc stack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report/tables/final_regression.tex; rc_20261018b_replay_results.jsonl (scripts/score_replay.py); rc_20261018b_multilingual_results.json; pytest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8 · Conclusion and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Limitations and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532120" cy="457200"/>
          </a:xfrm>
          <a:prstGeom prst="roundRect">
            <a:avLst>
              <a:gd name="adj" fmla="val 12000"/>
            </a:avLst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39496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Small corpus (12 documents); legal currency unverified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No official RNE list of supporting documents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Latin-script Derja retrieval weakest (0.714 Hit@5)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LLM answers slow on 4 GB (20–70 s)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No evaluation on real handwriting or photographs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Labels written by the team; human review 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532120" cy="45720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Future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539496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Human-reviewed labels and a larger held-out set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Activate agent and webhook keys (phase 2 plan ready)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Arabic legal translation with expert validation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Semantic answer–evidence check (H17 type errors)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More procedures from official sources that allow reuse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4A5560"/>
                </a:solidFill>
                <a:latin typeface="Segoe UI"/>
              </a:rPr>
              <a:t>GPU with more memory → reranker, faster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report §8; docs/EVALUATION.md; docs/SECURITY_PHASE2_ACTIVATION_PLAN.md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8 · Conclusion and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486400" cy="17830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700" b="1" i="0">
                <a:solidFill>
                  <a:srgbClr val="12305B"/>
                </a:solidFill>
                <a:latin typeface="Segoe UI"/>
              </a:rPr>
              <a:t>Grounded by construction</a:t>
            </a:r>
          </a:p>
          <a:p>
            <a:pPr algn="l"/>
            <a:r>
              <a:rPr sz="1400" b="0" i="0">
                <a:solidFill>
                  <a:srgbClr val="4A5560"/>
                </a:solidFill>
                <a:latin typeface="Segoe UI"/>
              </a:rPr>
              <a:t>Lists, table rows, legal articles and form instructions are quoted verbatim; generation is fenced and verified.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486400" cy="17830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700" b="1" i="0">
                <a:solidFill>
                  <a:srgbClr val="12305B"/>
                </a:solidFill>
                <a:latin typeface="Segoe UI"/>
              </a:rPr>
              <a:t>Measured, not assumed</a:t>
            </a:r>
          </a:p>
          <a:p>
            <a:pPr algn="l"/>
            <a:r>
              <a:rPr sz="1400" b="0" i="0">
                <a:solidFill>
                  <a:srgbClr val="4A5560"/>
                </a:solidFill>
                <a:latin typeface="Segoe UI"/>
              </a:rPr>
              <a:t>Retrieval on verified spans, held-out and independent end-to-end audit; failures reported, not hidden.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5486400" cy="178308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700" b="1" i="0">
                <a:solidFill>
                  <a:srgbClr val="12305B"/>
                </a:solidFill>
                <a:latin typeface="Segoe UI"/>
              </a:rPr>
              <a:t>Local and multilingual</a:t>
            </a:r>
          </a:p>
          <a:p>
            <a:pPr algn="l"/>
            <a:r>
              <a:rPr sz="1400" b="0" i="0">
                <a:solidFill>
                  <a:srgbClr val="4A5560"/>
                </a:solidFill>
                <a:latin typeface="Segoe UI"/>
              </a:rPr>
              <a:t>FR, EN, AR and Derja on one laptop: no paid API, no data leaves the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474720"/>
            <a:ext cx="5486400" cy="1783080"/>
          </a:xfrm>
          <a:prstGeom prst="roundRect">
            <a:avLst>
              <a:gd name="adj" fmla="val 12000"/>
            </a:avLst>
          </a:prstGeom>
          <a:solidFill>
            <a:srgbClr val="FC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700" b="1" i="0">
                <a:solidFill>
                  <a:srgbClr val="12305B"/>
                </a:solidFill>
                <a:latin typeface="Segoe UI"/>
              </a:rPr>
              <a:t>Main lesson</a:t>
            </a:r>
          </a:p>
          <a:p>
            <a:pPr algn="l"/>
            <a:r>
              <a:rPr sz="1400" b="0" i="0">
                <a:solidFill>
                  <a:srgbClr val="4A5560"/>
                </a:solidFill>
                <a:latin typeface="Segoe UI"/>
              </a:rPr>
              <a:t>Perfect citation metrics hid empty and fabricated answers. The fix was architectural: extract, do not paraphrase.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32120"/>
            <a:ext cx="112928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F8B8D"/>
                </a:solidFill>
                <a:latin typeface="Segoe UI"/>
              </a:rPr>
              <a:t>Thank you — questions welcome (10 minutes).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645920"/>
          </a:xfrm>
          <a:prstGeom prst="rect">
            <a:avLst/>
          </a:prstGeom>
          <a:solidFill>
            <a:srgbClr val="8C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Backup slides (not part of the 20-minute talk)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7 · Live Demonstration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All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Backup · Security controls and phase-2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92840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0480"/>
                <a:gridCol w="4343400"/>
                <a:gridCol w="31089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Control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Status in validated candidate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Production today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Admin endpoints (/ingestion/run, /index/run)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403 unless ADMIN_API_KEY set; 401 on wrong key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no authentication (older image)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Agent endpoints (/agents/*, /retrieve)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open while AGENT_API_KEY unset; 401 when set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Assistant webhook (X-Assistant-Key)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bridge sends it when configured; n8n Header Auth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not configured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Request size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413 above 15 MB; uploads ≤ 10 MB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uploads ≤ 10 MB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Network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all ports on 127.0.0.1; Ollama loopback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same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14800"/>
            <a:ext cx="1129284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Order: create n8n Header Auth credentials → attach to the 7 agent nodes (harmless while keys unset) → set AGENT_API_KEY and recreate backend → set ASSISTANT_WEBHOOK_KEY and recreate bridge → enable webhook auth.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Workflow 03 maps any backend error (including 401) to 503: a key mismatch looks like an outage — smoke-test after every step.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No step is executed without the owner's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backend/main.py; backend/agents_api.py; docs/SECURITY_PHASE2_ACTIVATION_PLAN.md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4 · 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Backup · Full retrieval comparison (71 dev questions, k =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92840" cy="27980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4840"/>
                <a:gridCol w="1371600"/>
                <a:gridCol w="1371600"/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Configuration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R@1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R@3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R@5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MRR@5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Hit@5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Dense raw · structure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0.465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0.575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Dense raw · recursive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0.528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0.725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0.803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0.642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0.817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Agent + normalisation · structure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0.507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0.591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Agent + normalisation · recursive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0.415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0.556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0.648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0.504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0.662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Hybrid RRF · structure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0.549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0.831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0.845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Hybrid + cap 2 · structure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0.549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0.782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0.859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0.675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0.873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Hybrid + cap 2 · recursive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0.507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Hybrid + cap 3 · structure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0.549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0.768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0.852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0.669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0.859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4343400"/>
          <a:ext cx="11292840" cy="1737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data/evaluation/retrieval_results_improved.json (overall and parallel_by_language)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7 · Live Demonstration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Backup · Numeric evidence verifier (off → 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92840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1463040"/>
                <a:gridCol w="1234440"/>
                <a:gridCol w="1600200"/>
                <a:gridCol w="1234440"/>
                <a:gridCol w="2148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Set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False accept off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on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False refusal off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on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Unsupp. numbers off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on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Development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0.058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0.058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2/85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0/78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Regression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0.143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0.125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1/9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0/1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Held-out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0.250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0.125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1/9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0/1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Test 1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0.250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0.250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0.100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2/19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0/17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Test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0.167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0.167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0.833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2/7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4A5560"/>
                          </a:solidFill>
                          <a:latin typeface="Segoe UI"/>
                        </a:rPr>
                        <a:t>0/8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06240"/>
            <a:ext cx="112928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Every number written with digits in an LLM answer must occur in the cited passage (digits or number words: “خمسون ألف” = 50,000).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F8B8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A5560"/>
                </a:solidFill>
                <a:latin typeface="Segoe UI"/>
              </a:rPr>
              <a:t>H14: Mistral wrote “510,000 TND” for fifty thousand dinars — now refused instead of shown. Median cost 3 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report/tables/verification.tex; agents/verification.py; docs/EVALUATION.md §7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3 ·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Backup · dialogue_understanding outputs (identical inputs)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92840" cy="4398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6440"/>
                <a:gridCol w="1828800"/>
                <a:gridCol w="1828800"/>
                <a:gridCol w="1828800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Metric (18 synthetic messages, 4 languages)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v2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v3</a:t>
                      </a:r>
                    </a:p>
                  </a:txBody>
                  <a:tcPr marL="54864" marR="54864" marT="18288" marB="18288" anchor="ctr">
                    <a:solidFill>
                      <a:srgbClr val="12305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Valid JSON (raw)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Schema-valid (raw)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Item precision (raw)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Item recall (raw)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0.474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0.684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0.684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Evidence exact substring (raw)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30/37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16/21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20/21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Spurious items on questions / injection (raw)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Invented quantities (raw)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Expected application / residence found (raw)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6/6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0/6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0/6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Invented application / residence (raw)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Item precision / recall after code validation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0.727 / 0.421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0.818 / 0.474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0.632 / 0.632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Invented quantities after code validation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Median seconds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10.2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4.2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A5560"/>
                          </a:solidFill>
                          <a:latin typeface="Segoe UI"/>
                        </a:rPr>
                        <a:t>4.4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data/evaluation/prompt_experiments/dialogue_understanding_results.json; dialogue_messages.jsonl (synthetic, labelled)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2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3 ·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56032"/>
            <a:ext cx="3246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C99A6"/>
                </a:solidFill>
                <a:latin typeface="Segoe UI"/>
              </a:rPr>
              <a:t>Member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305B"/>
                </a:solidFill>
                <a:latin typeface="Segoe UI"/>
              </a:rPr>
              <a:t>Backup · intent_router B0 vs v1 by language (LLM path 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Tunisian Administrative Procedures Assistant · Advanced Deep Learning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C99A6"/>
                </a:solidFill>
                <a:latin typeface="Segoe UI"/>
              </a:rPr>
              <a:t>25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554480"/>
          <a:ext cx="11292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8C99A6"/>
                </a:solidFill>
                <a:latin typeface="Segoe UI"/>
              </a:rPr>
              <a:t>Source: data/evaluation/prompt_experiments/intent_router_results.json. In production the keyword rules answer first; this measures the fallback prompt alone.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